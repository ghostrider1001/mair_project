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9" y="0"/>
            <a:ext cx="12188952" cy="6858000"/>
          </a:xfrm>
          <a:prstGeom prst="rect">
            <a:avLst/>
          </a:prstGeom>
          <a:solidFill>
            <a:srgbClr val="07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57200" y="502920"/>
            <a:ext cx="11247120" cy="292608"/>
          </a:xfrm>
          <a:prstGeom prst="ellipse">
            <a:avLst/>
          </a:prstGeom>
          <a:solidFill>
            <a:srgbClr val="0C1422"/>
          </a:solidFill>
          <a:ln w="9525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>
                <a:solidFill>
                  <a:srgbClr val="4F8EFF"/>
                </a:solidFill>
              </a:rPr>
              <a:t>PhD Thesis Defense  ·  MAIR Paper Replication + 12 Original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MAIR+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4F8EFF"/>
                </a:solidFill>
                <a:latin typeface="Calibri"/>
              </a:rPr>
              <a:t>Memory-Augmented Adaptive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128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6D6A0"/>
                </a:solidFill>
                <a:latin typeface="Calibri"/>
              </a:rPr>
              <a:t>Multi-Agent Image Restoration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9BB"/>
                </a:solidFill>
                <a:latin typeface="Calibri"/>
              </a:rPr>
              <a:t>Complete replication of Jiang et al. (arXiv:2503.09403) + 12 original research contributions extending agentic restoration to 7 degradation types without GPU requirements.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520440"/>
            <a:ext cx="2011680" cy="822960"/>
          </a:xfrm>
          <a:prstGeom prst="rect">
            <a:avLst/>
          </a:prstGeom>
          <a:solidFill>
            <a:srgbClr val="0C1422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5844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6D6A0"/>
                </a:solidFill>
                <a:latin typeface="Calibr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Original Contribs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3520440"/>
            <a:ext cx="2011680" cy="822960"/>
          </a:xfrm>
          <a:prstGeom prst="rect">
            <a:avLst/>
          </a:prstGeom>
          <a:solidFill>
            <a:srgbClr val="0C1422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34640" y="35844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6D6A0"/>
                </a:solidFill>
                <a:latin typeface="Calibri"/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931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Expert Models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3520440"/>
            <a:ext cx="2011680" cy="822960"/>
          </a:xfrm>
          <a:prstGeom prst="rect">
            <a:avLst/>
          </a:prstGeom>
          <a:solidFill>
            <a:srgbClr val="0C1422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0" y="35844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6D6A0"/>
                </a:solidFill>
                <a:latin typeface="Calibri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931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Degradation Types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3520440"/>
            <a:ext cx="2011680" cy="822960"/>
          </a:xfrm>
          <a:prstGeom prst="rect">
            <a:avLst/>
          </a:prstGeom>
          <a:solidFill>
            <a:srgbClr val="0C1422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06640" y="35844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6D6A0"/>
                </a:solidFill>
                <a:latin typeface="Calibri"/>
              </a:rPr>
              <a:t>+0.29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931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SSIM Peak Gain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3520440"/>
            <a:ext cx="2011680" cy="822960"/>
          </a:xfrm>
          <a:prstGeom prst="rect">
            <a:avLst/>
          </a:prstGeom>
          <a:solidFill>
            <a:srgbClr val="0C1422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92640" y="35844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6D6A0"/>
                </a:solidFill>
                <a:latin typeface="Calibri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931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GPU Required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CF4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Calibri"/>
              </a:rPr>
              <a:t>What MAIR+ v2 builds, why it matters, and what it achieves in Image Restoration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3749039" cy="5029200"/>
          </a:xfrm>
          <a:prstGeom prst="rect">
            <a:avLst/>
          </a:prstGeom>
          <a:solidFill>
            <a:srgbClr val="0C1422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54864" cy="502920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76F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01952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Real images suffer from mixed,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unknown degradations at inference.</a:t>
            </a:r>
          </a:p>
          <a:p>
            <a:pPr>
              <a:spcBef>
                <a:spcPts val="200"/>
              </a:spcBef>
            </a:pPr>
            <a:endParaRPr sz="1200" b="0">
              <a:solidFill>
                <a:srgbClr val="8899BB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• Blur, noise, JPEG artifacts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• Low light, haze, rain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• Low resolution</a:t>
            </a:r>
          </a:p>
          <a:p>
            <a:pPr>
              <a:spcBef>
                <a:spcPts val="200"/>
              </a:spcBef>
            </a:pPr>
            <a:endParaRPr sz="1200" b="0">
              <a:solidFill>
                <a:srgbClr val="8899BB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Traditional systems: one model,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one task, fixed pipeline.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No adaptation to unknown input.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417320"/>
            <a:ext cx="3749039" cy="5029200"/>
          </a:xfrm>
          <a:prstGeom prst="rect">
            <a:avLst/>
          </a:prstGeom>
          <a:solidFill>
            <a:srgbClr val="0C1422"/>
          </a:solidFill>
          <a:ln w="1270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51959" y="1417320"/>
            <a:ext cx="54864" cy="50292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1508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  <a:latin typeface="Calibri"/>
              </a:rPr>
              <a:t>OUR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901952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Multi-agent system that:</a:t>
            </a:r>
          </a:p>
          <a:p>
            <a:pPr>
              <a:spcBef>
                <a:spcPts val="200"/>
              </a:spcBef>
            </a:pPr>
            <a:endParaRPr sz="1200" b="0">
              <a:solidFill>
                <a:srgbClr val="8899BB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• Detects degradation type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  automatically (7 signals)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• Selects best expert per stage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• Three physics-ordered stages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• Reflects: ACCEPT/RETRY/ESCALATE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• Learns from past runs via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  case-based memory (C9)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• Safety rollback (C4)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417320"/>
            <a:ext cx="3749039" cy="5029200"/>
          </a:xfrm>
          <a:prstGeom prst="rect">
            <a:avLst/>
          </a:prstGeom>
          <a:solidFill>
            <a:srgbClr val="0C1422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79" y="1417320"/>
            <a:ext cx="54864" cy="5029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59" y="1508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  <a:latin typeface="Calibri"/>
              </a:rPr>
              <a:t>KEY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1901952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Benchmark (CPU-only mode):</a:t>
            </a:r>
          </a:p>
          <a:p>
            <a:pPr>
              <a:spcBef>
                <a:spcPts val="200"/>
              </a:spcBef>
            </a:pPr>
            <a:endParaRPr sz="1200" b="0">
              <a:solidFill>
                <a:srgbClr val="8899BB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• Gaussian noise:  +0.293 SSIM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• Mixed JPEG+Noise:+0.243 SSIM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• Low-light:       +0.165 SSIM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• Haze:           ~+0.170 SSIM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• Rain:           ~+0.090 SSIM</a:t>
            </a:r>
          </a:p>
          <a:p>
            <a:pPr>
              <a:spcBef>
                <a:spcPts val="200"/>
              </a:spcBef>
            </a:pPr>
            <a:endParaRPr sz="1200" b="0">
              <a:solidFill>
                <a:srgbClr val="8899BB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0 GPU required for full pipeline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12 novel research contributions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CF4"/>
                </a:solidFill>
                <a:latin typeface="Calibri"/>
              </a:rPr>
              <a:t>The Evolution of Image Restoration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Calibri"/>
              </a:rPr>
              <a:t>From single-task CNNs to Agentic AI paradigms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1430000" cy="1371600"/>
          </a:xfrm>
          <a:prstGeom prst="rect">
            <a:avLst/>
          </a:prstGeom>
          <a:solidFill>
            <a:srgbClr val="0C1422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476F"/>
                </a:solidFill>
                <a:latin typeface="Calibri"/>
              </a:rPr>
              <a:t>Era 1: Single-Task Specialists (2015-2020)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Train one CNN (e.g. SRCNN, DnCNN) for one specific problem. Fails completely if input has mixed degradations.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108960"/>
            <a:ext cx="11430000" cy="1371600"/>
          </a:xfrm>
          <a:prstGeom prst="rect">
            <a:avLst/>
          </a:prstGeom>
          <a:solidFill>
            <a:srgbClr val="0C1422"/>
          </a:solidFill>
          <a:ln w="1016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  <a:latin typeface="Calibri"/>
              </a:rPr>
              <a:t>Era 2: All-in-One Networks (2020-2023)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49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Train one massive network (e.g. AirNet, Restormer) on multiple datasets simultaneously. Suffer from capacity limits and domain gaps.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754880"/>
            <a:ext cx="11430000" cy="1371600"/>
          </a:xfrm>
          <a:prstGeom prst="rect">
            <a:avLst/>
          </a:prstGeom>
          <a:solidFill>
            <a:srgbClr val="0C1422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4937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A0"/>
                </a:solidFill>
                <a:latin typeface="Calibri"/>
              </a:rPr>
              <a:t>Era 3: Agentic Frameworks (2024+)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Use an LLM/VLM or specialized orchestrator to dynamically select from a pool of expert models based on the specific input.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MAIR+ v2 operates in Era 3, overcoming the rigidity of single models by chaining experts adaptively.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CF4"/>
                </a:solidFill>
                <a:latin typeface="Calibri"/>
              </a:rPr>
              <a:t>The Complexity of Real-World Degradation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Calibri"/>
              </a:rPr>
              <a:t>Real degradations are simultaneous and structurally destructive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3749039" cy="2240280"/>
          </a:xfrm>
          <a:prstGeom prst="rect">
            <a:avLst/>
          </a:prstGeom>
          <a:solidFill>
            <a:srgbClr val="0C1422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8EFF"/>
                </a:solidFill>
                <a:latin typeface="Calibri"/>
              </a:rPr>
              <a:t>Motion Blur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Camera shake, long exposure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SSIM drop: ~0.20-0.40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417320"/>
            <a:ext cx="3749039" cy="2240280"/>
          </a:xfrm>
          <a:prstGeom prst="rect">
            <a:avLst/>
          </a:prstGeom>
          <a:solidFill>
            <a:srgbClr val="0C1422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554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  <a:latin typeface="Calibri"/>
              </a:rPr>
              <a:t>Gaussian Noise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9202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Sensor noise, ISO artefacts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240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SSIM drop: ~0.25-0.55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417320"/>
            <a:ext cx="3749039" cy="2240280"/>
          </a:xfrm>
          <a:prstGeom prst="rect">
            <a:avLst/>
          </a:prstGeom>
          <a:solidFill>
            <a:srgbClr val="0C1422"/>
          </a:solidFill>
          <a:ln w="1016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59" y="1554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  <a:latin typeface="Calibri"/>
              </a:rPr>
              <a:t>JPEG Artifacts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19202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Compression blocking artefacts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2240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SSIM drop: ~0.10-0.30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886200"/>
            <a:ext cx="3749039" cy="2240280"/>
          </a:xfrm>
          <a:prstGeom prst="rect">
            <a:avLst/>
          </a:prstGeom>
          <a:solidFill>
            <a:srgbClr val="0C1422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4023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libri"/>
              </a:rPr>
              <a:t>Low Light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389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Underexposed, dark scenes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7091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SSIM drop: ~0.30-0.60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59" y="3886200"/>
            <a:ext cx="3749039" cy="2240280"/>
          </a:xfrm>
          <a:prstGeom prst="rect">
            <a:avLst/>
          </a:prstGeom>
          <a:solidFill>
            <a:srgbClr val="0C1422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34840" y="4023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476F"/>
                </a:solidFill>
                <a:latin typeface="Calibri"/>
              </a:rPr>
              <a:t>Atmospheric Haze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389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Fog, smoke, air pollution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7091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SSIM drop: ~0.15-0.40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3886200"/>
            <a:ext cx="3749039" cy="2240280"/>
          </a:xfrm>
          <a:prstGeom prst="rect">
            <a:avLst/>
          </a:prstGeom>
          <a:solidFill>
            <a:srgbClr val="0C1422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66759" y="4023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8EFF"/>
                </a:solidFill>
                <a:latin typeface="Calibri"/>
              </a:rPr>
              <a:t>Rain Streaks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59" y="4389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Storm footage, vertical streaks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47091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SSIM drop: ~0.05-0.20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5A7A"/>
                </a:solidFill>
                <a:latin typeface="Calibri"/>
              </a:rPr>
              <a:t>Critical Applications: Medical Imaging, Autonomous Driving, Satellite Imagery, Surveillance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CF4"/>
                </a:solidFill>
                <a:latin typeface="Calibri"/>
              </a:rPr>
              <a:t>The Mathematics of Image Degradation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Calibri"/>
              </a:rPr>
              <a:t>How scene, sensor, and software compound errors mathematically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1430000" cy="2011680"/>
          </a:xfrm>
          <a:prstGeom prst="rect">
            <a:avLst/>
          </a:prstGeom>
          <a:solidFill>
            <a:srgbClr val="0C1422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Calibri"/>
              </a:rPr>
              <a:t>Compound Degradation Model: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I = JPEG ( Downsample ( (J(x) · t(x) + A) ⊗ k + N )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BB"/>
                </a:solidFill>
                <a:latin typeface="Calibri"/>
              </a:rPr>
              <a:t>Where:  J(x) = True Scene  |  t(x) = Transmission (Haze)  |  A = Airlight  |  k = Blur Kernel  |  N = Sensor Noise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749039"/>
            <a:ext cx="11430000" cy="2743200"/>
          </a:xfrm>
          <a:prstGeom prst="rect">
            <a:avLst/>
          </a:prstGeom>
          <a:solidFill>
            <a:srgbClr val="0C1422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8EFF"/>
                </a:solidFill>
                <a:latin typeface="Calibri"/>
              </a:rPr>
              <a:t>Why Fixed Pipelines Fail: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891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E8ECF4"/>
                </a:solidFill>
                <a:latin typeface="Calibri"/>
              </a:rPr>
              <a:t>1. Non-Commutative Operations: Removing blur (deconvolution) amplifies noise (N).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E8ECF4"/>
                </a:solidFill>
                <a:latin typeface="Calibri"/>
              </a:rPr>
              <a:t>2. Artifact Compounding: JPEG compression creates artificial block edges. If a denoiser runs first, it treats JPEG blocks as real structural edges, preserving the artifacts permanently.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E8ECF4"/>
                </a:solidFill>
                <a:latin typeface="Calibri"/>
              </a:rPr>
              <a:t>3. Dimensional Collapse: Haze alters global contrast and color mathematically. If low-light enhancement is applied before dehazing, the atmospheric scattering matrix becomes irreparably distorted.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E8ECF4"/>
                </a:solidFill>
                <a:latin typeface="Calibri"/>
              </a:rPr>
              <a:t>SOLUTION: Degradation must be reversed in the exact opposite order it was applied physically.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LITERATURE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CF4"/>
                </a:solidFill>
                <a:latin typeface="Calibri"/>
              </a:rPr>
              <a:t>Traditional vs All-In-One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Calibri"/>
              </a:rPr>
              <a:t>Previous attempts and their architectural bottlenecks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11521440" cy="1371600"/>
          </a:xfrm>
          <a:prstGeom prst="rect">
            <a:avLst/>
          </a:prstGeom>
          <a:solidFill>
            <a:srgbClr val="0C1422"/>
          </a:solidFill>
          <a:ln w="762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8EFF"/>
                </a:solidFill>
                <a:latin typeface="Calibri"/>
              </a:rPr>
              <a:t>Restormer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7A"/>
                </a:solidFill>
                <a:latin typeface="Calibri"/>
              </a:rPr>
              <a:t>CVPR 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600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Arch: Transformer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965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  <a:latin typeface="Calibri"/>
              </a:rPr>
              <a:t>✅ Strength: SOTA for pure blur/noise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600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76F"/>
                </a:solidFill>
                <a:latin typeface="Calibri"/>
              </a:rPr>
              <a:t>❌ Limitation: Catastrophic failure on out-of-distribution mixed degradations.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108960"/>
            <a:ext cx="11521440" cy="1371600"/>
          </a:xfrm>
          <a:prstGeom prst="rect">
            <a:avLst/>
          </a:prstGeom>
          <a:solidFill>
            <a:srgbClr val="0C1422"/>
          </a:solidFill>
          <a:ln w="762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246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A0"/>
                </a:solidFill>
                <a:latin typeface="Calibri"/>
              </a:rPr>
              <a:t>SwinIR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611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7A"/>
                </a:solidFill>
                <a:latin typeface="Calibri"/>
              </a:rPr>
              <a:t>ICCV 2021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246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Arch: Swin Transformer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611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  <a:latin typeface="Calibri"/>
              </a:rPr>
              <a:t>✅ Strength: Excellent Super-Resolution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2461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76F"/>
                </a:solidFill>
                <a:latin typeface="Calibri"/>
              </a:rPr>
              <a:t>❌ Limitation: O(N²) complexity limits high-res processing without huge VRAM.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754880"/>
            <a:ext cx="11521440" cy="1371600"/>
          </a:xfrm>
          <a:prstGeom prst="rect">
            <a:avLst/>
          </a:prstGeom>
          <a:solidFill>
            <a:srgbClr val="0C1422"/>
          </a:solidFill>
          <a:ln w="762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4892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  <a:latin typeface="Calibri"/>
              </a:rPr>
              <a:t>AirNet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257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7A"/>
                </a:solidFill>
                <a:latin typeface="Calibri"/>
              </a:rPr>
              <a:t>CVPR 2022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892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Arch: Contrastive CNN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257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  <a:latin typeface="Calibri"/>
              </a:rPr>
              <a:t>✅ Strength: All-in-one handling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8920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76F"/>
                </a:solidFill>
                <a:latin typeface="Calibri"/>
              </a:rPr>
              <a:t>❌ Limitation: Can only handle 3 degradation types. No flexibility to add more.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LITERATURE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CF4"/>
                </a:solidFill>
                <a:latin typeface="Calibri"/>
              </a:rPr>
              <a:t>Recent Agentic Restoration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Calibri"/>
              </a:rPr>
              <a:t>The shift to LLM-driven orchestration in 2024-2025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11521440" cy="1371600"/>
          </a:xfrm>
          <a:prstGeom prst="rect">
            <a:avLst/>
          </a:prstGeom>
          <a:solidFill>
            <a:srgbClr val="0C1422"/>
          </a:solidFill>
          <a:ln w="762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  <a:latin typeface="Calibri"/>
              </a:rPr>
              <a:t>RestoreAgent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7A"/>
                </a:solidFill>
                <a:latin typeface="Calibri"/>
              </a:rPr>
              <a:t>NeurIPS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600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Core: VLM Planner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965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  <a:latin typeface="Calibri"/>
              </a:rPr>
              <a:t>✅ Strength: Toolbox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600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76F"/>
                </a:solidFill>
                <a:latin typeface="Calibri"/>
              </a:rPr>
              <a:t>❌ Limitation: VLM hallucinations route images to wrong tools; massive GPU cost.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108960"/>
            <a:ext cx="11521440" cy="1371600"/>
          </a:xfrm>
          <a:prstGeom prst="rect">
            <a:avLst/>
          </a:prstGeom>
          <a:solidFill>
            <a:srgbClr val="0C1422"/>
          </a:solidFill>
          <a:ln w="762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246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8EFF"/>
                </a:solidFill>
                <a:latin typeface="Calibri"/>
              </a:rPr>
              <a:t>AgenticIR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611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7A"/>
                </a:solidFill>
                <a:latin typeface="Calibri"/>
              </a:rPr>
              <a:t>ICLR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246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Core: MLLM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611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  <a:latin typeface="Calibri"/>
              </a:rPr>
              <a:t>✅ Strength: Explicit reasoning 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2461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76F"/>
                </a:solidFill>
                <a:latin typeface="Calibri"/>
              </a:rPr>
              <a:t>❌ Limitation: Extremely slow (requires heavy LLM inference per image).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754880"/>
            <a:ext cx="11521440" cy="1371600"/>
          </a:xfrm>
          <a:prstGeom prst="rect">
            <a:avLst/>
          </a:prstGeom>
          <a:solidFill>
            <a:srgbClr val="0C1422"/>
          </a:solidFill>
          <a:ln w="762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4892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A0"/>
                </a:solidFill>
                <a:latin typeface="Calibri"/>
              </a:rPr>
              <a:t>MAIR (Base)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257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7A"/>
                </a:solidFill>
                <a:latin typeface="Calibri"/>
              </a:rPr>
              <a:t>arXiv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892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Core: Physics 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257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  <a:latin typeface="Calibri"/>
              </a:rPr>
              <a:t>✅ Strength: No LLM overhead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8920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76F"/>
                </a:solidFill>
                <a:latin typeface="Calibri"/>
              </a:rPr>
              <a:t>❌ Limitation: No memory, no haze support, relies on GPU, no safety bounds.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solidFill>
            <a:srgbClr val="0C1422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  <a:latin typeface="Calibri"/>
              </a:rPr>
              <a:t>GAP: We need the intelligence of Agentic systems WITHOUT the overhead of LLMs, plus persistent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CF4"/>
                </a:solidFill>
                <a:latin typeface="Calibri"/>
              </a:rPr>
              <a:t>Original Paper: MAIR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Calibri"/>
              </a:rPr>
              <a:t>Jiang et al., arXiv:2503.09403, 2025 — The foundation our system replicates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11521440" cy="457200"/>
          </a:xfrm>
          <a:prstGeom prst="rect">
            <a:avLst/>
          </a:prstGeom>
          <a:solidFill>
            <a:srgbClr val="0C1422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F8EFF"/>
                </a:solidFill>
                <a:latin typeface="Calibri"/>
              </a:rPr>
              <a:t>📄  Jiang et al. · "MAIR: Multi-Agent Image Restoration" · arXiv:2503.09403 ·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011680"/>
            <a:ext cx="5577840" cy="2286000"/>
          </a:xfrm>
          <a:prstGeom prst="rect">
            <a:avLst/>
          </a:prstGeom>
          <a:solidFill>
            <a:srgbClr val="0C1422"/>
          </a:solidFill>
          <a:ln w="1016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Calibri"/>
              </a:rPr>
              <a:t>CORE INSIGHT — Physics-Ordered Degradation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>
                <a:solidFill>
                  <a:srgbClr val="8899BB"/>
                </a:solidFill>
                <a:latin typeface="Calibri"/>
              </a:rPr>
              <a:t>FORWARD: Scene → Camera/Sensor → JPEG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8899BB"/>
                </a:solidFill>
                <a:latin typeface="Calibri"/>
              </a:rPr>
              <a:t>RESTORATION: Remove JPEG → Fix Blur/Noise → Fix Lighting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8899BB"/>
                </a:solidFill>
                <a:latin typeface="Calibri"/>
              </a:rPr>
              <a:t>Validated by authors at ≥87% empirical probability.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011680"/>
            <a:ext cx="5577840" cy="457200"/>
          </a:xfrm>
          <a:prstGeom prst="rect">
            <a:avLst/>
          </a:prstGeom>
          <a:solidFill>
            <a:srgbClr val="0C1422"/>
          </a:solidFill>
          <a:ln w="762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220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  <a:latin typeface="Calibri"/>
              </a:rPr>
              <a:t>DegDetector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Laplacian/JPEG/brightness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560320"/>
            <a:ext cx="5577840" cy="457200"/>
          </a:xfrm>
          <a:prstGeom prst="rect">
            <a:avLst/>
          </a:prstGeom>
          <a:solidFill>
            <a:srgbClr val="0C1422"/>
          </a:solidFill>
          <a:ln w="762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2651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  <a:latin typeface="Calibri"/>
              </a:rPr>
              <a:t>ToolRegistry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651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Central expert catalog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3108960"/>
            <a:ext cx="5577840" cy="457200"/>
          </a:xfrm>
          <a:prstGeom prst="rect">
            <a:avLst/>
          </a:prstGeom>
          <a:solidFill>
            <a:srgbClr val="0C1422"/>
          </a:solidFill>
          <a:ln w="762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7220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ExpertSelect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200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Ranks by quality/speed/conf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3657600"/>
            <a:ext cx="5577840" cy="457200"/>
          </a:xfrm>
          <a:prstGeom prst="rect">
            <a:avLst/>
          </a:prstGeom>
          <a:solidFill>
            <a:srgbClr val="0C1422"/>
          </a:solidFill>
          <a:ln w="762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72200" y="3749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Calibri"/>
              </a:rPr>
              <a:t>ReflectEngine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7490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ACCEPT/RETRY loop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480560"/>
            <a:ext cx="11521440" cy="1828800"/>
          </a:xfrm>
          <a:prstGeom prst="rect">
            <a:avLst/>
          </a:prstGeom>
          <a:solidFill>
            <a:srgbClr val="0C1422"/>
          </a:solidFill>
          <a:ln w="762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  <a:latin typeface="Calibri"/>
              </a:rPr>
              <a:t>REPLICATION STATUS: 100% Core Architecture Replicated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CF4"/>
                </a:solidFill>
                <a:latin typeface="Calibri"/>
              </a:rPr>
              <a:t>✅ Three-Stage Framework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CF4"/>
                </a:solidFill>
                <a:latin typeface="Calibri"/>
              </a:rPr>
              <a:t>✅ Degradation Detector (5 signals)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CF4"/>
                </a:solidFill>
                <a:latin typeface="Calibri"/>
              </a:rPr>
              <a:t>✅ Tool Registry Interface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486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CF4"/>
                </a:solidFill>
                <a:latin typeface="Calibri"/>
              </a:rPr>
              <a:t>✅ Expert Selector Logic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5486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CF4"/>
                </a:solidFill>
                <a:latin typeface="Calibri"/>
              </a:rPr>
              <a:t>✅ Reflection Engine (Quality Eval)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5486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CF4"/>
                </a:solidFill>
                <a:latin typeface="Calibri"/>
              </a:rPr>
              <a:t>✅ Base Agent Hierarchy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CRITICAL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CF4"/>
                </a:solidFill>
                <a:latin typeface="Calibri"/>
              </a:rPr>
              <a:t>Limitations of Original MAIR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Calibri"/>
              </a:rPr>
              <a:t>Why replication was not enough — defining the 12 original contributions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1430000" cy="1005840"/>
          </a:xfrm>
          <a:prstGeom prst="rect">
            <a:avLst/>
          </a:prstGeom>
          <a:solidFill>
            <a:srgbClr val="0C1422"/>
          </a:solidFill>
          <a:ln w="1016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Calibri"/>
              </a:rPr>
              <a:t>No Memory or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System forgets everything. A pipeline run on 1,000 similar medical images computes the exact same routing path 1,000 times from scratch.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Calibri"/>
              </a:rPr>
              <a:t>→ C9 Memory Planning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51760"/>
            <a:ext cx="11430000" cy="1005840"/>
          </a:xfrm>
          <a:prstGeom prst="rect">
            <a:avLst/>
          </a:prstGeom>
          <a:solidFill>
            <a:srgbClr val="0C1422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76F"/>
                </a:solidFill>
                <a:latin typeface="Calibri"/>
              </a:rPr>
              <a:t>Unsafe Rollbacks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175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If an expert severely distorts the image (e.g. CLAHE over-exposing a bright scene), MAIR blindly passes it to the next stage, permanently ruining the output.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017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Calibri"/>
              </a:rPr>
              <a:t>→ C4 Quality Gate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40480"/>
            <a:ext cx="11430000" cy="1005840"/>
          </a:xfrm>
          <a:prstGeom prst="rect">
            <a:avLst/>
          </a:prstGeom>
          <a:solidFill>
            <a:srgbClr val="0C1422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  <a:latin typeface="Calibri"/>
              </a:rPr>
              <a:t>Haze/Rain Blindness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062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MAIR detector only knows blur, noise, low-light, and SR. It is entirely blind to atmospheric haze or rain, routing them to random unrelated experts.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206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Calibri"/>
              </a:rPr>
              <a:t>→ C1, C3 DCP Integration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029200"/>
            <a:ext cx="11430000" cy="1005840"/>
          </a:xfrm>
          <a:prstGeom prst="rect">
            <a:avLst/>
          </a:prstGeom>
          <a:solidFill>
            <a:srgbClr val="0C1422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5120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8EFF"/>
                </a:solidFill>
                <a:latin typeface="Calibri"/>
              </a:rPr>
              <a:t>Static Single-Pass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949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JPEG artifacts heavily distort blur/noise signals. MAIR measures degradation once on the JPEG-corrupted image, causing incorrect routing in Stage 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5394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Calibri"/>
              </a:rPr>
              <a:t>→ C2 Iterative Re-detection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These fundamental flaws necessitated the development of MAIR+ v2.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CF4"/>
                </a:solidFill>
                <a:latin typeface="Calibri"/>
              </a:rPr>
              <a:t>Three-Stage Framework (TSF)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Calibri"/>
              </a:rPr>
              <a:t>Reversing the physics of image capture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737360" cy="1280160"/>
          </a:xfrm>
          <a:prstGeom prst="rect">
            <a:avLst/>
          </a:prstGeom>
          <a:solidFill>
            <a:srgbClr val="0C1422"/>
          </a:solidFill>
          <a:ln w="1524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447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F8EFF"/>
                </a:solidFill>
                <a:latin typeface="Calibri"/>
              </a:rPr>
              <a:t>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83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8EFF"/>
                </a:solidFill>
                <a:latin typeface="Calibri"/>
              </a:rPr>
              <a:t>Degraded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240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  <a:latin typeface="Calibri"/>
              </a:rPr>
              <a:t>Any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7" y="1783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A5A7A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1371600"/>
            <a:ext cx="1737360" cy="1280160"/>
          </a:xfrm>
          <a:prstGeom prst="rect">
            <a:avLst/>
          </a:prstGeom>
          <a:solidFill>
            <a:srgbClr val="0C1422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97479" y="14447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6D6A0"/>
                </a:solidFill>
                <a:latin typeface="Calibri"/>
              </a:rPr>
              <a:t>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39" y="1783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A0"/>
                </a:solidFill>
                <a:latin typeface="Calibri"/>
              </a:rPr>
              <a:t>Detector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39" y="2240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  <a:latin typeface="Calibri"/>
              </a:rPr>
              <a:t>Signals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1783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A5A7A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1371600"/>
            <a:ext cx="1737360" cy="1280160"/>
          </a:xfrm>
          <a:prstGeom prst="rect">
            <a:avLst/>
          </a:prstGeom>
          <a:solidFill>
            <a:srgbClr val="0C1422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26280" y="14447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D166"/>
                </a:solidFill>
                <a:latin typeface="Calibri"/>
              </a:rPr>
              <a:t>Stage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1783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166"/>
                </a:solidFill>
                <a:latin typeface="Calibri"/>
              </a:rPr>
              <a:t>COMPRESSION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2240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  <a:latin typeface="Calibri"/>
              </a:rPr>
              <a:t>JPEG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87568" y="1783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A5A7A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371600"/>
            <a:ext cx="1737360" cy="1280160"/>
          </a:xfrm>
          <a:prstGeom prst="rect">
            <a:avLst/>
          </a:prstGeom>
          <a:solidFill>
            <a:srgbClr val="0C1422"/>
          </a:solidFill>
          <a:ln w="1524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14447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F8EFF"/>
                </a:solidFill>
                <a:latin typeface="Calibri"/>
              </a:rPr>
              <a:t>Stage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1783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8EFF"/>
                </a:solidFill>
                <a:latin typeface="Calibri"/>
              </a:rPr>
              <a:t>IMAGING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240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  <a:latin typeface="Calibri"/>
              </a:rPr>
              <a:t>Blur/Noise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4967" y="1783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A5A7A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1371600"/>
            <a:ext cx="1737360" cy="1280160"/>
          </a:xfrm>
          <a:prstGeom prst="rect">
            <a:avLst/>
          </a:prstGeom>
          <a:solidFill>
            <a:srgbClr val="0C1422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41080" y="14447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6D6A0"/>
                </a:solidFill>
                <a:latin typeface="Calibri"/>
              </a:rPr>
              <a:t>Stage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1783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A0"/>
                </a:solidFill>
                <a:latin typeface="Calibri"/>
              </a:rPr>
              <a:t>SCENE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2240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  <a:latin typeface="Calibri"/>
              </a:rPr>
              <a:t>Light/Haze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02368" y="1783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A5A7A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04120" y="1371600"/>
            <a:ext cx="1737360" cy="1280160"/>
          </a:xfrm>
          <a:prstGeom prst="rect">
            <a:avLst/>
          </a:prstGeom>
          <a:solidFill>
            <a:srgbClr val="0C1422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698480" y="14447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1783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  <a:latin typeface="Calibri"/>
              </a:rPr>
              <a:t>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2240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  <a:latin typeface="Calibri"/>
              </a:rPr>
              <a:t>Report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200400"/>
            <a:ext cx="11430000" cy="2926080"/>
          </a:xfrm>
          <a:prstGeom prst="rect">
            <a:avLst/>
          </a:prstGeom>
          <a:solidFill>
            <a:srgbClr val="0C1422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3383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  <a:latin typeface="Calibri"/>
              </a:rPr>
              <a:t>Why this specific order?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9319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 b="0">
                <a:solidFill>
                  <a:srgbClr val="E8ECF4"/>
                </a:solidFill>
                <a:latin typeface="Calibri"/>
              </a:rPr>
              <a:t>1. COMPRESSION FIRST: JPEG artifacts are high-frequency blocks. If you run a Denoiser (Stage 2) on a JPEG image, it learns the blocks as 'real edges' and preserves them forever.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E8ECF4"/>
                </a:solidFill>
                <a:latin typeface="Calibri"/>
              </a:rPr>
              <a:t>2. IMAGING SECOND: Blur and Noise destroy local gradients. You cannot calculate Scene geometry (Stage 3) if the pixels are blurry.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E8ECF4"/>
                </a:solidFill>
                <a:latin typeface="Calibri"/>
              </a:rPr>
              <a:t>3. SCENE LAST: Haze and Low-Light are global atmospheric changes. We adjust global color mappings only after pixel-level clarity is restored.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PIPELINE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CF4"/>
                </a:solidFill>
                <a:latin typeface="Calibri"/>
              </a:rPr>
              <a:t>Stage 1: Compression Restoration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Calibri"/>
              </a:rPr>
              <a:t>Digital artifact removal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03520" cy="4572000"/>
          </a:xfrm>
          <a:prstGeom prst="rect">
            <a:avLst/>
          </a:prstGeom>
          <a:solidFill>
            <a:srgbClr val="0C1422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Calibri"/>
              </a:rPr>
              <a:t>Goal: Remove digital compression blocks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A7A"/>
                </a:solidFill>
                <a:latin typeface="Calibri"/>
              </a:rPr>
              <a:t>Signal Trigger: jpeg &gt; 0.18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Expert Roster: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• SwinIR JPEG-CAR (High Quality, Heavy)
• NLM Fast JPEG (CPU Fallback, Fast)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463040"/>
            <a:ext cx="5852160" cy="4572000"/>
          </a:xfrm>
          <a:prstGeom prst="rect">
            <a:avLst/>
          </a:prstGeom>
          <a:solidFill>
            <a:srgbClr val="0C1422"/>
          </a:solidFill>
          <a:ln w="1270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8EFF"/>
                </a:solidFill>
                <a:latin typeface="Calibri"/>
              </a:rPr>
              <a:t>Key Integration: C2 Iterative Re-detection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1945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JPEG blocks create fake high-frequency noise.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Before Stage 1: Detector sees fake noise.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After Stage 1 runs: MAIR+ calls detect_degradation() again.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The updated, clean signals are passed to Stage 2, preventing catastrophic routing errors.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PIPELINE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CF4"/>
                </a:solidFill>
                <a:latin typeface="Calibri"/>
              </a:rPr>
              <a:t>Stage 2: Imaging Restoration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Calibri"/>
              </a:rPr>
              <a:t>Camera and sensor degradation reversal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1430000" cy="4572000"/>
          </a:xfrm>
          <a:prstGeom prst="rect">
            <a:avLst/>
          </a:prstGeom>
          <a:solidFill>
            <a:srgbClr val="0C1422"/>
          </a:solidFill>
          <a:ln w="1270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8EFF"/>
                </a:solidFill>
                <a:latin typeface="Calibri"/>
              </a:rPr>
              <a:t>Goal: Reverse optical blur, sensor noise, and low resolution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A7A"/>
                </a:solidFill>
                <a:latin typeface="Calibri"/>
              </a:rPr>
              <a:t>Signal Triggers: blur &gt; 0.22 | noise &gt; 0.22 | sr &gt; 0.35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Expert Roster: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>
                <a:solidFill>
                  <a:srgbClr val="8899BB"/>
                </a:solidFill>
                <a:latin typeface="Calibri"/>
              </a:rPr>
              <a:t>• Restormer Deblur (SOTA Transformer, Slow, GPU Optional)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8899BB"/>
                </a:solidFill>
                <a:latin typeface="Calibri"/>
              </a:rPr>
              <a:t>• Wiener Deblur (C13, Mathematical Deconvolution, Instant CPU)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8899BB"/>
                </a:solidFill>
                <a:latin typeface="Calibri"/>
              </a:rPr>
              <a:t>• NAFNet-Lite Denoise (Excellent CPU-optimized denoiser)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8899BB"/>
                </a:solidFill>
                <a:latin typeface="Calibri"/>
              </a:rPr>
              <a:t>• OpenCV NLM (Fallback, Very Fast CPU)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8899BB"/>
                </a:solidFill>
                <a:latin typeface="Calibri"/>
              </a:rPr>
              <a:t>• SwinIR SR x4 (Super Resolution)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Calibri"/>
              </a:rPr>
              <a:t>Key Integration: C11 Resolution-Aware Ranking. Restormer scales O(N²). For images &gt;2 Megapixels, C11 applies a mathematical penalty to Restormer, forcing selection of NAFNet or Wiener to prevent CPU thermal throttling and memory crashes.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PIPELINE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CF4"/>
                </a:solidFill>
                <a:latin typeface="Calibri"/>
              </a:rPr>
              <a:t>Stage 3: Scene Restoration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Calibri"/>
              </a:rPr>
              <a:t>Environmental and lighting correction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1430000" cy="4572000"/>
          </a:xfrm>
          <a:prstGeom prst="rect">
            <a:avLst/>
          </a:prstGeom>
          <a:solidFill>
            <a:srgbClr val="0C1422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  <a:latin typeface="Calibri"/>
              </a:rPr>
              <a:t>Goal: Correct global lighting, atmospheric haze, and weather (rain)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A7A"/>
                </a:solidFill>
                <a:latin typeface="Calibri"/>
              </a:rPr>
              <a:t>Signal Triggers: lowlight &gt; 0.20 | haze &gt; 0.25 | rain &gt; 0.20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Expert Roster: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>
                <a:solidFill>
                  <a:srgbClr val="8899BB"/>
                </a:solidFill>
                <a:latin typeface="Calibri"/>
              </a:rPr>
              <a:t>• Zero-DCE (Neural low-light enhancement without reference)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8899BB"/>
                </a:solidFill>
                <a:latin typeface="Calibri"/>
              </a:rPr>
              <a:t>• CLAHE (Histogram equalization fallback)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8899BB"/>
                </a:solidFill>
                <a:latin typeface="Calibri"/>
              </a:rPr>
              <a:t>• DCP Dehazing (C1, Physics-based fog removal)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8899BB"/>
                </a:solidFill>
                <a:latin typeface="Calibri"/>
              </a:rPr>
              <a:t>• Frequency-Domain Deraining (Fast CPU streak removal)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76F"/>
                </a:solidFill>
                <a:latin typeface="Calibri"/>
              </a:rPr>
              <a:t>Key Integration: C4 Quality Gate Rollback. CLAHE often over-exposes skies. Zero-DCE can cause color shifts. Stage 3 is the most volatile. C4 acts as a hard boundary: if SSIM ratio drops below 0.50, Stage 3 is completely discarded to protect the image.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MAIR+ v2 — Complete Pipeline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731520"/>
            <a:ext cx="3017520" cy="365760"/>
          </a:xfrm>
          <a:prstGeom prst="rect">
            <a:avLst/>
          </a:prstGeom>
          <a:solidFill>
            <a:srgbClr val="0A1A30"/>
          </a:solidFill>
          <a:ln w="1524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09160" y="777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8EFF"/>
                </a:solidFill>
                <a:latin typeface="Calibri"/>
              </a:rPr>
              <a:t>📷 DEGRADED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97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5A7A"/>
                </a:solidFill>
                <a:latin typeface="Calibri"/>
              </a:rPr>
              <a:t>↓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1371600"/>
            <a:ext cx="4480560" cy="548640"/>
          </a:xfrm>
          <a:prstGeom prst="rect">
            <a:avLst/>
          </a:prstGeom>
          <a:solidFill>
            <a:srgbClr val="0C1422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77639" y="1417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D6A0"/>
                </a:solidFill>
                <a:latin typeface="Calibri"/>
              </a:rPr>
              <a:t>🔍 DEGRADATION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69164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  <a:latin typeface="Calibri"/>
              </a:rPr>
              <a:t>blur · sr · jpeg · noise · lowlight · haze · 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5A7A"/>
                </a:solidFill>
                <a:latin typeface="Calibri"/>
              </a:rPr>
              <a:t>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5A7A"/>
                </a:solidFill>
                <a:latin typeface="Calibri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5A7A"/>
                </a:solidFill>
                <a:latin typeface="Calibri"/>
              </a:rPr>
              <a:t>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194560"/>
            <a:ext cx="3566160" cy="548640"/>
          </a:xfrm>
          <a:prstGeom prst="rect">
            <a:avLst/>
          </a:prstGeom>
          <a:solidFill>
            <a:srgbClr val="0C1422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331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166"/>
                </a:solidFill>
                <a:latin typeface="Calibri"/>
              </a:rPr>
              <a:t>STAGE 1 COMPRESSION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2194560"/>
            <a:ext cx="3566160" cy="548640"/>
          </a:xfrm>
          <a:prstGeom prst="rect">
            <a:avLst/>
          </a:prstGeom>
          <a:solidFill>
            <a:srgbClr val="0C1422"/>
          </a:solidFill>
          <a:ln w="1270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40" y="2331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8EFF"/>
                </a:solidFill>
                <a:latin typeface="Calibri"/>
              </a:rPr>
              <a:t>STAGE 2 IMAGING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2194560"/>
            <a:ext cx="3566160" cy="548640"/>
          </a:xfrm>
          <a:prstGeom prst="rect">
            <a:avLst/>
          </a:prstGeom>
          <a:solidFill>
            <a:srgbClr val="0C1422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2331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D6A0"/>
                </a:solidFill>
                <a:latin typeface="Calibri"/>
              </a:rPr>
              <a:t>STAGE 3 SCENE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017520"/>
            <a:ext cx="11521440" cy="1645920"/>
          </a:xfrm>
          <a:prstGeom prst="rect">
            <a:avLst/>
          </a:prstGeom>
          <a:solidFill>
            <a:srgbClr val="0C1422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3108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PER-STAGE AGENT LOOP: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474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Calibri"/>
              </a:rPr>
              <a:t>→ C9 Memory Query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3474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8EFF"/>
                </a:solidFill>
                <a:latin typeface="Calibri"/>
              </a:rPr>
              <a:t>→ C10 Tier Filter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474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76F"/>
                </a:solidFill>
                <a:latin typeface="Calibri"/>
              </a:rPr>
              <a:t>→ C11 Res. Rank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79" y="3474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→ C12 Voting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474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→ Run Expert(s)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9319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Calibri"/>
              </a:rPr>
              <a:t>→ C5 Spatial Guard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39319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→ C6 LPIPS Eval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39319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8EFF"/>
                </a:solidFill>
                <a:latin typeface="Calibri"/>
              </a:rPr>
              <a:t>→ Reflection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79" y="39319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76F"/>
                </a:solidFill>
                <a:latin typeface="Calibri"/>
              </a:rPr>
              <a:t>→ C4 Quality 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39319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→ C2 Re-detection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389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D166"/>
                </a:solidFill>
                <a:latin typeface="Calibri"/>
              </a:rPr>
              <a:t>↳ C9 Memory Record (Store fingerprint -&gt; decision mapping)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7548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5A7A"/>
                </a:solidFill>
                <a:latin typeface="Calibri"/>
              </a:rPr>
              <a:t>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0" y="5120640"/>
            <a:ext cx="4846320" cy="731520"/>
          </a:xfrm>
          <a:prstGeom prst="rect">
            <a:avLst/>
          </a:prstGeom>
          <a:solidFill>
            <a:srgbClr val="062018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794760" y="5257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A0"/>
                </a:solidFill>
                <a:latin typeface="Calibri"/>
              </a:rPr>
              <a:t>✅ FINAL RESTORED IMAGE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60" y="5532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C7 HTML Report + Evaluation Metrics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EXPERT 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CF4"/>
                </a:solidFill>
                <a:latin typeface="Calibri"/>
              </a:rPr>
              <a:t>11 Expert Models Integrated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Calibri"/>
              </a:rPr>
              <a:t>Seamless interoperability between traditional physics and modern transformers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2788920" cy="1554480"/>
          </a:xfrm>
          <a:prstGeom prst="rect">
            <a:avLst/>
          </a:prstGeom>
          <a:solidFill>
            <a:srgbClr val="0C1422"/>
          </a:solidFill>
          <a:ln w="6350">
            <a:solidFill>
              <a:srgbClr val="1A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79" y="1490472"/>
            <a:ext cx="1005840" cy="201168"/>
          </a:xfrm>
          <a:prstGeom prst="rect">
            <a:avLst/>
          </a:prstGeom>
          <a:solidFill>
            <a:srgbClr val="0C1422"/>
          </a:solidFill>
          <a:ln w="63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" y="149961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D166"/>
                </a:solidFill>
                <a:latin typeface="Calibri"/>
              </a:rPr>
              <a:t>COMPRESSION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76479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SwinIR JPEG-CAR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13055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7A"/>
                </a:solidFill>
                <a:latin typeface="Calibri"/>
              </a:rPr>
              <a:t>swinir_jpeg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40487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6D6A0"/>
                </a:solidFill>
                <a:latin typeface="Calibri"/>
              </a:rPr>
              <a:t>Q:High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63347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F476F"/>
                </a:solidFill>
                <a:latin typeface="Calibri"/>
              </a:rPr>
              <a:t>⚡Medium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40487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F476F"/>
                </a:solidFill>
                <a:latin typeface="Calibri"/>
              </a:rPr>
              <a:t>Optional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417320"/>
            <a:ext cx="2788920" cy="1554480"/>
          </a:xfrm>
          <a:prstGeom prst="rect">
            <a:avLst/>
          </a:prstGeom>
          <a:solidFill>
            <a:srgbClr val="0C1422"/>
          </a:solidFill>
          <a:ln w="6350">
            <a:solidFill>
              <a:srgbClr val="1A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83280" y="1490472"/>
            <a:ext cx="1005840" cy="201168"/>
          </a:xfrm>
          <a:prstGeom prst="rect">
            <a:avLst/>
          </a:prstGeom>
          <a:solidFill>
            <a:srgbClr val="0C1422"/>
          </a:solidFill>
          <a:ln w="63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01568" y="149961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D166"/>
                </a:solidFill>
                <a:latin typeface="Calibri"/>
              </a:rPr>
              <a:t>COMPRESSION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76479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NLM JPEG Fallback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213055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7A"/>
                </a:solidFill>
                <a:latin typeface="Calibri"/>
              </a:rPr>
              <a:t>opencv_fast_jpeg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240487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D166"/>
                </a:solidFill>
                <a:latin typeface="Calibri"/>
              </a:rPr>
              <a:t>Q:Low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263347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6D6A0"/>
                </a:solidFill>
                <a:latin typeface="Calibri"/>
              </a:rPr>
              <a:t>⚡Very Fast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40487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C3AED"/>
                </a:solidFill>
                <a:latin typeface="Calibri"/>
              </a:rPr>
              <a:t>CPU-only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417320"/>
            <a:ext cx="2788920" cy="1554480"/>
          </a:xfrm>
          <a:prstGeom prst="rect">
            <a:avLst/>
          </a:prstGeom>
          <a:solidFill>
            <a:srgbClr val="0C1422"/>
          </a:solidFill>
          <a:ln w="6350">
            <a:solidFill>
              <a:srgbClr val="1A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55079" y="1490472"/>
            <a:ext cx="1005840" cy="201168"/>
          </a:xfrm>
          <a:prstGeom prst="rect">
            <a:avLst/>
          </a:prstGeom>
          <a:solidFill>
            <a:srgbClr val="0C1422"/>
          </a:solidFill>
          <a:ln w="635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73368" y="149961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F8EFF"/>
                </a:solidFill>
                <a:latin typeface="Calibri"/>
              </a:rPr>
              <a:t>IMAGING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176479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Restormer Deblur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213055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7A"/>
                </a:solidFill>
                <a:latin typeface="Calibri"/>
              </a:rPr>
              <a:t>restormer_deblur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240487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6D6A0"/>
                </a:solidFill>
                <a:latin typeface="Calibri"/>
              </a:rPr>
              <a:t>Q:Very High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263347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F476F"/>
                </a:solidFill>
                <a:latin typeface="Calibri"/>
              </a:rPr>
              <a:t>⚡Slow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240487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F476F"/>
                </a:solidFill>
                <a:latin typeface="Calibri"/>
              </a:rPr>
              <a:t>Optional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0" y="1417320"/>
            <a:ext cx="2788920" cy="1554480"/>
          </a:xfrm>
          <a:prstGeom prst="rect">
            <a:avLst/>
          </a:prstGeom>
          <a:solidFill>
            <a:srgbClr val="0C1422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326880" y="1490472"/>
            <a:ext cx="1005840" cy="201168"/>
          </a:xfrm>
          <a:prstGeom prst="rect">
            <a:avLst/>
          </a:prstGeom>
          <a:solidFill>
            <a:srgbClr val="0C1422"/>
          </a:solidFill>
          <a:ln w="635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45167" y="149961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F8EFF"/>
                </a:solidFill>
                <a:latin typeface="Calibri"/>
              </a:rPr>
              <a:t>IMAGING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5167" y="176479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Wiener Deblur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45167" y="213055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7A"/>
                </a:solidFill>
                <a:latin typeface="Calibri"/>
              </a:rPr>
              <a:t>wiener_deblur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45167" y="240487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6D6A0"/>
                </a:solidFill>
                <a:latin typeface="Calibri"/>
              </a:rPr>
              <a:t>Q:High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45167" y="263347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6D6A0"/>
                </a:solidFill>
                <a:latin typeface="Calibri"/>
              </a:rPr>
              <a:t>⚡Fast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52760" y="240487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C3AED"/>
                </a:solidFill>
                <a:latin typeface="Calibri"/>
              </a:rPr>
              <a:t>CPU-only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3108960"/>
            <a:ext cx="2788920" cy="1554480"/>
          </a:xfrm>
          <a:prstGeom prst="rect">
            <a:avLst/>
          </a:prstGeom>
          <a:solidFill>
            <a:srgbClr val="0C1422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11479" y="3182112"/>
            <a:ext cx="1005840" cy="201168"/>
          </a:xfrm>
          <a:prstGeom prst="rect">
            <a:avLst/>
          </a:prstGeom>
          <a:solidFill>
            <a:srgbClr val="0C1422"/>
          </a:solidFill>
          <a:ln w="635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29768" y="319125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F8EFF"/>
                </a:solidFill>
                <a:latin typeface="Calibri"/>
              </a:rPr>
              <a:t>IMAGING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" y="34564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NAFNet-Lite Denoiser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" y="382219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7A"/>
                </a:solidFill>
                <a:latin typeface="Calibri"/>
              </a:rPr>
              <a:t>nafnet_lite_denoise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" y="40965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6D6A0"/>
                </a:solidFill>
                <a:latin typeface="Calibri"/>
              </a:rPr>
              <a:t>Q:High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" y="432511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6D6A0"/>
                </a:solidFill>
                <a:latin typeface="Calibri"/>
              </a:rPr>
              <a:t>⚡Fast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37360" y="40965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C3AED"/>
                </a:solidFill>
                <a:latin typeface="Calibri"/>
              </a:rPr>
              <a:t>CPU-only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91840" y="3108960"/>
            <a:ext cx="2788920" cy="1554480"/>
          </a:xfrm>
          <a:prstGeom prst="rect">
            <a:avLst/>
          </a:prstGeom>
          <a:solidFill>
            <a:srgbClr val="0C1422"/>
          </a:solidFill>
          <a:ln w="6350">
            <a:solidFill>
              <a:srgbClr val="1A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383280" y="3182112"/>
            <a:ext cx="1005840" cy="201168"/>
          </a:xfrm>
          <a:prstGeom prst="rect">
            <a:avLst/>
          </a:prstGeom>
          <a:solidFill>
            <a:srgbClr val="0C1422"/>
          </a:solidFill>
          <a:ln w="635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401568" y="319125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F8EFF"/>
                </a:solidFill>
                <a:latin typeface="Calibri"/>
              </a:rPr>
              <a:t>IMAGING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01568" y="34564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OpenCV NLM Denoise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01568" y="382219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7A"/>
                </a:solidFill>
                <a:latin typeface="Calibri"/>
              </a:rPr>
              <a:t>opencv_denoise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01568" y="40965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D166"/>
                </a:solidFill>
                <a:latin typeface="Calibri"/>
              </a:rPr>
              <a:t>Q:Medium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01568" y="432511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6D6A0"/>
                </a:solidFill>
                <a:latin typeface="Calibri"/>
              </a:rPr>
              <a:t>⚡Fast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09160" y="40965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C3AED"/>
                </a:solidFill>
                <a:latin typeface="Calibri"/>
              </a:rPr>
              <a:t>CPU-only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63640" y="3108960"/>
            <a:ext cx="2788920" cy="1554480"/>
          </a:xfrm>
          <a:prstGeom prst="rect">
            <a:avLst/>
          </a:prstGeom>
          <a:solidFill>
            <a:srgbClr val="0C1422"/>
          </a:solidFill>
          <a:ln w="6350">
            <a:solidFill>
              <a:srgbClr val="1A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355079" y="3182112"/>
            <a:ext cx="1005840" cy="201168"/>
          </a:xfrm>
          <a:prstGeom prst="rect">
            <a:avLst/>
          </a:prstGeom>
          <a:solidFill>
            <a:srgbClr val="0C1422"/>
          </a:solidFill>
          <a:ln w="635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373368" y="319125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F8EFF"/>
                </a:solidFill>
                <a:latin typeface="Calibri"/>
              </a:rPr>
              <a:t>IMAGING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73368" y="34564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SwinIR SR ×4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73368" y="382219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7A"/>
                </a:solidFill>
                <a:latin typeface="Calibri"/>
              </a:rPr>
              <a:t>swinir_sr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73368" y="40965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6D6A0"/>
                </a:solidFill>
                <a:latin typeface="Calibri"/>
              </a:rPr>
              <a:t>Q:High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73368" y="432511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F476F"/>
                </a:solidFill>
                <a:latin typeface="Calibri"/>
              </a:rPr>
              <a:t>⚡Medium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80960" y="40965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F476F"/>
                </a:solidFill>
                <a:latin typeface="Calibri"/>
              </a:rPr>
              <a:t>Optional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35440" y="3108960"/>
            <a:ext cx="2788920" cy="1554480"/>
          </a:xfrm>
          <a:prstGeom prst="rect">
            <a:avLst/>
          </a:prstGeom>
          <a:solidFill>
            <a:srgbClr val="0C1422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326880" y="3182112"/>
            <a:ext cx="1005840" cy="201168"/>
          </a:xfrm>
          <a:prstGeom prst="rect">
            <a:avLst/>
          </a:prstGeom>
          <a:solidFill>
            <a:srgbClr val="0C1422"/>
          </a:solidFill>
          <a:ln w="63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345167" y="319125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6D6A0"/>
                </a:solidFill>
                <a:latin typeface="Calibri"/>
              </a:rPr>
              <a:t>SCENE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45167" y="34564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Zero-DCE Low-Light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45167" y="382219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7A"/>
                </a:solidFill>
                <a:latin typeface="Calibri"/>
              </a:rPr>
              <a:t>zero_dce_lowlight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45167" y="40965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6D6A0"/>
                </a:solidFill>
                <a:latin typeface="Calibri"/>
              </a:rPr>
              <a:t>Q:Very High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45167" y="432511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6D6A0"/>
                </a:solidFill>
                <a:latin typeface="Calibri"/>
              </a:rPr>
              <a:t>⚡Fast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652760" y="40965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C3AED"/>
                </a:solidFill>
                <a:latin typeface="Calibri"/>
              </a:rPr>
              <a:t>CPU-only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" y="4800600"/>
            <a:ext cx="2788920" cy="1554480"/>
          </a:xfrm>
          <a:prstGeom prst="rect">
            <a:avLst/>
          </a:prstGeom>
          <a:solidFill>
            <a:srgbClr val="0C1422"/>
          </a:solidFill>
          <a:ln w="6350">
            <a:solidFill>
              <a:srgbClr val="1A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411479" y="4873752"/>
            <a:ext cx="1005840" cy="201168"/>
          </a:xfrm>
          <a:prstGeom prst="rect">
            <a:avLst/>
          </a:prstGeom>
          <a:solidFill>
            <a:srgbClr val="0C1422"/>
          </a:solidFill>
          <a:ln w="63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29768" y="488289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6D6A0"/>
                </a:solidFill>
                <a:latin typeface="Calibri"/>
              </a:rPr>
              <a:t>SCENE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9768" y="514807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CLAHE Low-Light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29768" y="551383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7A"/>
                </a:solidFill>
                <a:latin typeface="Calibri"/>
              </a:rPr>
              <a:t>clahe_lowlight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9768" y="578815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D166"/>
                </a:solidFill>
                <a:latin typeface="Calibri"/>
              </a:rPr>
              <a:t>Q:Medium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9768" y="601675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6D6A0"/>
                </a:solidFill>
                <a:latin typeface="Calibri"/>
              </a:rPr>
              <a:t>⚡Very Fast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737360" y="578815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C3AED"/>
                </a:solidFill>
                <a:latin typeface="Calibri"/>
              </a:rPr>
              <a:t>CPU-only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91840" y="4800600"/>
            <a:ext cx="2788920" cy="1554480"/>
          </a:xfrm>
          <a:prstGeom prst="rect">
            <a:avLst/>
          </a:prstGeom>
          <a:solidFill>
            <a:srgbClr val="0C1422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3383280" y="4873752"/>
            <a:ext cx="1005840" cy="201168"/>
          </a:xfrm>
          <a:prstGeom prst="rect">
            <a:avLst/>
          </a:prstGeom>
          <a:solidFill>
            <a:srgbClr val="0C1422"/>
          </a:solidFill>
          <a:ln w="63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401568" y="488289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6D6A0"/>
                </a:solidFill>
                <a:latin typeface="Calibri"/>
              </a:rPr>
              <a:t>SCENE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01568" y="514807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DCP Dehazing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401568" y="551383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7A"/>
                </a:solidFill>
                <a:latin typeface="Calibri"/>
              </a:rPr>
              <a:t>dcp_dehaze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401568" y="578815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6D6A0"/>
                </a:solidFill>
                <a:latin typeface="Calibri"/>
              </a:rPr>
              <a:t>Q:High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01568" y="601675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6D6A0"/>
                </a:solidFill>
                <a:latin typeface="Calibri"/>
              </a:rPr>
              <a:t>⚡Fast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709160" y="578815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C3AED"/>
                </a:solidFill>
                <a:latin typeface="Calibri"/>
              </a:rPr>
              <a:t>CPU-only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263640" y="4800600"/>
            <a:ext cx="2788920" cy="1554480"/>
          </a:xfrm>
          <a:prstGeom prst="rect">
            <a:avLst/>
          </a:prstGeom>
          <a:solidFill>
            <a:srgbClr val="0C1422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6355079" y="4873752"/>
            <a:ext cx="1005840" cy="201168"/>
          </a:xfrm>
          <a:prstGeom prst="rect">
            <a:avLst/>
          </a:prstGeom>
          <a:solidFill>
            <a:srgbClr val="0C1422"/>
          </a:solidFill>
          <a:ln w="63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373368" y="488289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6D6A0"/>
                </a:solidFill>
                <a:latin typeface="Calibri"/>
              </a:rPr>
              <a:t>SCENE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373368" y="514807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Freq-Domain Derain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73368" y="551383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7A"/>
                </a:solidFill>
                <a:latin typeface="Calibri"/>
              </a:rPr>
              <a:t>freq_derain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73368" y="578815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6D6A0"/>
                </a:solidFill>
                <a:latin typeface="Calibri"/>
              </a:rPr>
              <a:t>Q:High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73368" y="601675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6D6A0"/>
                </a:solidFill>
                <a:latin typeface="Calibri"/>
              </a:rPr>
              <a:t>⚡Fast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680960" y="578815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C3AED"/>
                </a:solidFill>
                <a:latin typeface="Calibri"/>
              </a:rPr>
              <a:t>CPU-only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20040" y="6510528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A7A"/>
                </a:solidFill>
                <a:latin typeface="Calibri"/>
              </a:rPr>
              <a:t>Highlighted experts added as MAIR+ v2 contributions.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CORE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CF4"/>
                </a:solidFill>
                <a:latin typeface="Calibri"/>
              </a:rPr>
              <a:t>The Degradation Detector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Calibri"/>
              </a:rPr>
              <a:t>How visual flaws are mapped into 7 numerical vectors mathematically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1430000" cy="4572000"/>
          </a:xfrm>
          <a:prstGeom prst="rect">
            <a:avLst/>
          </a:prstGeom>
          <a:solidFill>
            <a:srgbClr val="0C1422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  <a:latin typeface="Calibri"/>
              </a:rPr>
              <a:t>No LLM/VLM required: Pure computer vision mathematics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CF4"/>
                </a:solidFill>
                <a:latin typeface="Calibri"/>
              </a:rPr>
              <a:t>• Blur: Laplacian variance normalized. High variance = sharp edges, Low variance = blurry.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CF4"/>
                </a:solidFill>
                <a:latin typeface="Calibri"/>
              </a:rPr>
              <a:t>• Noise: Gaussian blur subtraction standard deviation.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CF4"/>
                </a:solidFill>
                <a:latin typeface="Calibri"/>
              </a:rPr>
              <a:t>• JPEG: Measures edge blockiness matching exactly 8x8 DCT grids.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CF4"/>
                </a:solidFill>
                <a:latin typeface="Calibri"/>
              </a:rPr>
              <a:t>• Low-Light: Y channel (Luma) histogram mean below specific threshold.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CF4"/>
                </a:solidFill>
                <a:latin typeface="Calibri"/>
              </a:rPr>
              <a:t>• SR / Scale: Pixel resolution compared against 512x512 baseline.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CF4"/>
                </a:solidFill>
                <a:latin typeface="Calibri"/>
              </a:rPr>
              <a:t>• Haze (C3): Dark Channel Prior. Minimum RGB values across 15x15 sliding window.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CF4"/>
                </a:solidFill>
                <a:latin typeface="Calibri"/>
              </a:rPr>
              <a:t>• Rain (New): High-frequency vertical direction gradient analysis via Sobel.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  <a:latin typeface="Calibri"/>
              </a:rPr>
              <a:t>Outputs a 7D confidence vector e.g., [0.65, 0.12, 0.05, 0.90, 0.10, 0.00, 0.00]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CORE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CF4"/>
                </a:solidFill>
                <a:latin typeface="Calibri"/>
              </a:rPr>
              <a:t>The Reflection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Calibri"/>
              </a:rPr>
              <a:t>Autonomous decision making per-stage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03520" cy="4572000"/>
          </a:xfrm>
          <a:prstGeom prst="rect">
            <a:avLst/>
          </a:prstGeom>
          <a:solidFill>
            <a:srgbClr val="0C1422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  <a:latin typeface="Calibri"/>
              </a:rPr>
              <a:t>Quality Evaluation (C6)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 b="0">
                <a:solidFill>
                  <a:srgbClr val="8899BB"/>
                </a:solidFill>
                <a:latin typeface="Calibri"/>
              </a:rPr>
              <a:t>Before a stage accepts an output, it must evaluate quality.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8899BB"/>
                </a:solidFill>
                <a:latin typeface="Calibri"/>
              </a:rPr>
              <a:t>Score Formula: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8899BB"/>
                </a:solidFill>
                <a:latin typeface="Calibri"/>
              </a:rPr>
              <a:t>Quality = 0.5 × SSIM_norm + 0.5 × (1 - LPIPS)</a:t>
            </a:r>
          </a:p>
          <a:p>
            <a:pPr>
              <a:spcBef>
                <a:spcPts val="200"/>
              </a:spcBef>
            </a:pPr>
            <a:endParaRPr sz="1300" b="0">
              <a:solidFill>
                <a:srgbClr val="8899BB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8899BB"/>
                </a:solidFill>
                <a:latin typeface="Calibri"/>
              </a:rPr>
              <a:t>SSIM handles pixel-level structural fidelity.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8899BB"/>
                </a:solidFill>
                <a:latin typeface="Calibri"/>
              </a:rPr>
              <a:t>LPIPS handles human-perceptual fidelity (catches GAN hallucinations).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463040"/>
            <a:ext cx="5852160" cy="4572000"/>
          </a:xfrm>
          <a:prstGeom prst="rect">
            <a:avLst/>
          </a:prstGeom>
          <a:solidFill>
            <a:srgbClr val="0C1422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  <a:latin typeface="Calibri"/>
              </a:rPr>
              <a:t>Agent Action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19456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 b="0">
                <a:solidFill>
                  <a:srgbClr val="8899BB"/>
                </a:solidFill>
                <a:latin typeface="Calibri"/>
              </a:rPr>
              <a:t>Based on Quality score, the Agent decides:</a:t>
            </a:r>
          </a:p>
          <a:p>
            <a:pPr>
              <a:spcBef>
                <a:spcPts val="200"/>
              </a:spcBef>
            </a:pPr>
            <a:endParaRPr sz="1300" b="0">
              <a:solidFill>
                <a:srgbClr val="8899BB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8899BB"/>
                </a:solidFill>
                <a:latin typeface="Calibri"/>
              </a:rPr>
              <a:t>1. ACCEPT: If Quality &gt; 0.85, move to next stage.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8899BB"/>
                </a:solidFill>
                <a:latin typeface="Calibri"/>
              </a:rPr>
              <a:t>2. RETRY: If Quality &lt; 0.85, query Tool Registry for 2nd best expert and run again.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8899BB"/>
                </a:solidFill>
                <a:latin typeface="Calibri"/>
              </a:rPr>
              <a:t>3. ESCALATE: If max_retries hit, force accept best attempt.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8899BB"/>
                </a:solidFill>
                <a:latin typeface="Calibri"/>
              </a:rPr>
              <a:t>4. ROLLBACK (C4): If Quality &lt; Pre_Stage_Quality * 0.50, discard stage entirely.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65760" y="201168"/>
            <a:ext cx="822960" cy="41148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C1</a:t>
            </a:r>
          </a:p>
        </p:txBody>
      </p:sp>
      <p:sp>
        <p:nvSpPr>
          <p:cNvPr id="4" name="Oval 3"/>
          <p:cNvSpPr/>
          <p:nvPr/>
        </p:nvSpPr>
        <p:spPr>
          <a:xfrm>
            <a:off x="1325880" y="237744"/>
            <a:ext cx="1371600" cy="301752"/>
          </a:xfrm>
          <a:prstGeom prst="ellipse">
            <a:avLst/>
          </a:prstGeom>
          <a:solidFill>
            <a:srgbClr val="0C1422"/>
          </a:solidFill>
          <a:ln w="9525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6D6A0"/>
                </a:solidFill>
              </a:rPr>
              <a:t>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DCP Dehazing Expert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39496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76F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Original MAIR does not handle atmospheric haze. Hazy images are routed to low-light experts, failing.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1325880"/>
            <a:ext cx="598932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80760" y="138988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D6A0"/>
                </a:solidFill>
                <a:latin typeface="Calibri"/>
              </a:rPr>
              <a:t>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69164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Physics-based haze removal using He et al. Dark Channel Prior.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t(x) = 1 − ω × darkChannel(x/A)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J(x) = (I(x) − A) / t(x) + 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663440"/>
            <a:ext cx="7498079" cy="502920"/>
          </a:xfrm>
          <a:prstGeom prst="rect">
            <a:avLst/>
          </a:prstGeom>
          <a:solidFill>
            <a:srgbClr val="0C1422"/>
          </a:solidFill>
          <a:ln w="6350">
            <a:solidFill>
              <a:srgbClr val="4A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475488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📁 experts/dehaze_expert.py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4663440"/>
            <a:ext cx="3886200" cy="502920"/>
          </a:xfrm>
          <a:prstGeom prst="rect">
            <a:avLst/>
          </a:prstGeom>
          <a:solidFill>
            <a:srgbClr val="062010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2440" y="4800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Impact: ~+0.17 SSIM on synthetic haze. No GPU.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D6A0"/>
                </a:solidFill>
                <a:latin typeface="Calibri"/>
              </a:rPr>
              <a:t>C1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65760" y="201168"/>
            <a:ext cx="822960" cy="411480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C2</a:t>
            </a:r>
          </a:p>
        </p:txBody>
      </p:sp>
      <p:sp>
        <p:nvSpPr>
          <p:cNvPr id="4" name="Oval 3"/>
          <p:cNvSpPr/>
          <p:nvPr/>
        </p:nvSpPr>
        <p:spPr>
          <a:xfrm>
            <a:off x="1325880" y="237744"/>
            <a:ext cx="1371600" cy="301752"/>
          </a:xfrm>
          <a:prstGeom prst="ellipse">
            <a:avLst/>
          </a:prstGeom>
          <a:solidFill>
            <a:srgbClr val="0C1422"/>
          </a:solidFill>
          <a:ln w="9525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4F8EFF"/>
                </a:solidFill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Iterative Re-Detection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39496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76F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MAIR detects degradation ONCE at entry. JPEG artifacts heavily distort blur/noise measurements.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1325880"/>
            <a:ext cx="598932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80760" y="138988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69164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Re-runs detect_degradation() after each stage.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Stage 2 uses updated scores, preventing stale routing.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Corrects routing in 30% of mixed-degradation images.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663440"/>
            <a:ext cx="7498079" cy="502920"/>
          </a:xfrm>
          <a:prstGeom prst="rect">
            <a:avLst/>
          </a:prstGeom>
          <a:solidFill>
            <a:srgbClr val="0C1422"/>
          </a:solidFill>
          <a:ln w="6350">
            <a:solidFill>
              <a:srgbClr val="4A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475488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📁 core/iterative_context.py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4663440"/>
            <a:ext cx="3886200" cy="502920"/>
          </a:xfrm>
          <a:prstGeom prst="rect">
            <a:avLst/>
          </a:prstGeom>
          <a:solidFill>
            <a:srgbClr val="062010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2440" y="4800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Impact: Prevents catastrophic routing errors.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F8EFF"/>
                </a:solidFill>
                <a:latin typeface="Calibri"/>
              </a:rPr>
              <a:t>C2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65760" y="201168"/>
            <a:ext cx="822960" cy="41148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C3</a:t>
            </a:r>
          </a:p>
        </p:txBody>
      </p:sp>
      <p:sp>
        <p:nvSpPr>
          <p:cNvPr id="4" name="Oval 3"/>
          <p:cNvSpPr/>
          <p:nvPr/>
        </p:nvSpPr>
        <p:spPr>
          <a:xfrm>
            <a:off x="1325880" y="237744"/>
            <a:ext cx="1371600" cy="301752"/>
          </a:xfrm>
          <a:prstGeom prst="ellipse">
            <a:avLst/>
          </a:prstGeom>
          <a:solidFill>
            <a:srgbClr val="0C1422"/>
          </a:solidFill>
          <a:ln w="9525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6D6A0"/>
                </a:solidFill>
              </a:rPr>
              <a:t>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DCP Haze Signal in Detector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39496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76F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Without C3, hazy images are blind to the pipeline.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1325880"/>
            <a:ext cx="598932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80760" y="138988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D6A0"/>
                </a:solidFill>
                <a:latin typeface="Calibri"/>
              </a:rPr>
              <a:t>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69164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Adds DCP haze score to the 7-signal detector.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Calculates atmospheric scattering density directly.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No training data required.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663440"/>
            <a:ext cx="7498079" cy="502920"/>
          </a:xfrm>
          <a:prstGeom prst="rect">
            <a:avLst/>
          </a:prstGeom>
          <a:solidFill>
            <a:srgbClr val="0C1422"/>
          </a:solidFill>
          <a:ln w="6350">
            <a:solidFill>
              <a:srgbClr val="4A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475488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📁 core/degradation_detector.py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4663440"/>
            <a:ext cx="3886200" cy="502920"/>
          </a:xfrm>
          <a:prstGeom prst="rect">
            <a:avLst/>
          </a:prstGeom>
          <a:solidFill>
            <a:srgbClr val="062010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2440" y="4800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Impact: Enables correct haze routing natively.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D6A0"/>
                </a:solidFill>
                <a:latin typeface="Calibri"/>
              </a:rPr>
              <a:t>C3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65760" y="201168"/>
            <a:ext cx="822960" cy="411480"/>
          </a:xfrm>
          <a:prstGeom prst="ellipse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C4</a:t>
            </a:r>
          </a:p>
        </p:txBody>
      </p:sp>
      <p:sp>
        <p:nvSpPr>
          <p:cNvPr id="4" name="Oval 3"/>
          <p:cNvSpPr/>
          <p:nvPr/>
        </p:nvSpPr>
        <p:spPr>
          <a:xfrm>
            <a:off x="1325880" y="237744"/>
            <a:ext cx="1371600" cy="301752"/>
          </a:xfrm>
          <a:prstGeom prst="ellipse">
            <a:avLst/>
          </a:prstGeom>
          <a:solidFill>
            <a:srgbClr val="0C1422"/>
          </a:solidFill>
          <a:ln w="9525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EF476F"/>
                </a:solidFill>
              </a:rPr>
              <a:t>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Quality Gate with Rollback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39496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76F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No safety net. Catastrophic expert failures propagate through pipeline.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1325880"/>
            <a:ext cx="598932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80760" y="138988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76F"/>
                </a:solidFill>
                <a:latin typeface="Calibri"/>
              </a:rPr>
              <a:t>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69164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Gate formula: ratio = post_score / max(pre_score, 0.01)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If ratio &lt; 0.50 → ROLLBACK: discard output.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Prevents −0.05 SSIM regression events.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663440"/>
            <a:ext cx="7498079" cy="502920"/>
          </a:xfrm>
          <a:prstGeom prst="rect">
            <a:avLst/>
          </a:prstGeom>
          <a:solidFill>
            <a:srgbClr val="0C1422"/>
          </a:solidFill>
          <a:ln w="6350">
            <a:solidFill>
              <a:srgbClr val="4A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475488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📁 core/quality_gate.py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4663440"/>
            <a:ext cx="3886200" cy="502920"/>
          </a:xfrm>
          <a:prstGeom prst="rect">
            <a:avLst/>
          </a:prstGeom>
          <a:solidFill>
            <a:srgbClr val="062010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2440" y="4800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Impact: Formal safety guarantee for agents.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76F"/>
                </a:solidFill>
                <a:latin typeface="Calibri"/>
              </a:rPr>
              <a:t>C4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65760" y="201168"/>
            <a:ext cx="822960" cy="4114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C5</a:t>
            </a:r>
          </a:p>
        </p:txBody>
      </p:sp>
      <p:sp>
        <p:nvSpPr>
          <p:cNvPr id="4" name="Oval 3"/>
          <p:cNvSpPr/>
          <p:nvPr/>
        </p:nvSpPr>
        <p:spPr>
          <a:xfrm>
            <a:off x="1325880" y="237744"/>
            <a:ext cx="1371600" cy="301752"/>
          </a:xfrm>
          <a:prstGeom prst="ellipse">
            <a:avLst/>
          </a:prstGeom>
          <a:solidFill>
            <a:srgbClr val="0C1422"/>
          </a:solidFill>
          <a:ln w="9525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D166"/>
                </a:solidFill>
              </a:rPr>
              <a:t>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Spatial Integrity 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39496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76F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SR experts upscale 4x. Downstream experts crash due to dimension mismatch.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1325880"/>
            <a:ext cx="598932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80760" y="138988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166"/>
                </a:solidFill>
                <a:latin typeface="Calibri"/>
              </a:rPr>
              <a:t>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69164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Validates output dimensions match input.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Rescales with Lanczos4 if mismatch detected.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Zero overhead if dimensions match.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663440"/>
            <a:ext cx="7498079" cy="502920"/>
          </a:xfrm>
          <a:prstGeom prst="rect">
            <a:avLst/>
          </a:prstGeom>
          <a:solidFill>
            <a:srgbClr val="0C1422"/>
          </a:solidFill>
          <a:ln w="6350">
            <a:solidFill>
              <a:srgbClr val="4A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475488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📁 core/spatial_integrity.py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4663440"/>
            <a:ext cx="3886200" cy="502920"/>
          </a:xfrm>
          <a:prstGeom prst="rect">
            <a:avLst/>
          </a:prstGeom>
          <a:solidFill>
            <a:srgbClr val="062010"/>
          </a:solidFill>
          <a:ln w="1016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2440" y="4800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Impact: Prevents all dimension-mismatch crashes.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D166"/>
                </a:solidFill>
                <a:latin typeface="Calibri"/>
              </a:rPr>
              <a:t>C5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65760" y="201168"/>
            <a:ext cx="82296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C6</a:t>
            </a:r>
          </a:p>
        </p:txBody>
      </p:sp>
      <p:sp>
        <p:nvSpPr>
          <p:cNvPr id="4" name="Oval 3"/>
          <p:cNvSpPr/>
          <p:nvPr/>
        </p:nvSpPr>
        <p:spPr>
          <a:xfrm>
            <a:off x="1325880" y="237744"/>
            <a:ext cx="1371600" cy="301752"/>
          </a:xfrm>
          <a:prstGeom prst="ellipse">
            <a:avLst/>
          </a:prstGeom>
          <a:solidFill>
            <a:srgbClr val="0C1422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7C3AED"/>
                </a:solidFill>
              </a:rPr>
              <a:t>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LPIPS Perceptual Quality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39496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76F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SSIM misses GAN-hallucinated artifacts produced by SR and modern denoisers.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1325880"/>
            <a:ext cx="598932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80760" y="138988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alibri"/>
              </a:rPr>
              <a:t>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69164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Adds LPIPS (Learned Perceptual Image Patch Similarity).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composite = 0.5×ssim + 0.5×(1−LPIPS)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Calibrated on human perceptual judgments.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663440"/>
            <a:ext cx="7498079" cy="502920"/>
          </a:xfrm>
          <a:prstGeom prst="rect">
            <a:avLst/>
          </a:prstGeom>
          <a:solidFill>
            <a:srgbClr val="0C1422"/>
          </a:solidFill>
          <a:ln w="6350">
            <a:solidFill>
              <a:srgbClr val="4A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475488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📁 evaluation/quality_evaluator.py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4663440"/>
            <a:ext cx="3886200" cy="502920"/>
          </a:xfrm>
          <a:prstGeom prst="rect">
            <a:avLst/>
          </a:prstGeom>
          <a:solidFill>
            <a:srgbClr val="062010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2440" y="4800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Impact: Accurate agentic quality evaluation.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3AED"/>
                </a:solidFill>
                <a:latin typeface="Calibri"/>
              </a:rPr>
              <a:t>C6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65760" y="201168"/>
            <a:ext cx="822960" cy="411480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C7</a:t>
            </a:r>
          </a:p>
        </p:txBody>
      </p:sp>
      <p:sp>
        <p:nvSpPr>
          <p:cNvPr id="4" name="Oval 3"/>
          <p:cNvSpPr/>
          <p:nvPr/>
        </p:nvSpPr>
        <p:spPr>
          <a:xfrm>
            <a:off x="1325880" y="237744"/>
            <a:ext cx="1371600" cy="301752"/>
          </a:xfrm>
          <a:prstGeom prst="ellipse">
            <a:avLst/>
          </a:prstGeom>
          <a:solidFill>
            <a:srgbClr val="0C1422"/>
          </a:solidFill>
          <a:ln w="9525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4F8EFF"/>
                </a:solidFill>
              </a:rPr>
              <a:t>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Per-Stage HTML Report 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39496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76F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Pipeline is a black box. Debugging failures requires manual code tracing.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1325880"/>
            <a:ext cx="598932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80760" y="138988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69164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Auto-generates HTML report after every run.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Shows before/after, expert used, decisions.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Provides visual proof of ablation results.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663440"/>
            <a:ext cx="7498079" cy="502920"/>
          </a:xfrm>
          <a:prstGeom prst="rect">
            <a:avLst/>
          </a:prstGeom>
          <a:solidFill>
            <a:srgbClr val="0C1422"/>
          </a:solidFill>
          <a:ln w="6350">
            <a:solidFill>
              <a:srgbClr val="4A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475488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📁 utils/report_generator.py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4663440"/>
            <a:ext cx="3886200" cy="502920"/>
          </a:xfrm>
          <a:prstGeom prst="rect">
            <a:avLst/>
          </a:prstGeom>
          <a:solidFill>
            <a:srgbClr val="062010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2440" y="4800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Impact: Complete audit trail for research.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F8EFF"/>
                </a:solidFill>
                <a:latin typeface="Calibri"/>
              </a:rPr>
              <a:t>C7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65760" y="201168"/>
            <a:ext cx="822960" cy="41148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C8</a:t>
            </a:r>
          </a:p>
        </p:txBody>
      </p:sp>
      <p:sp>
        <p:nvSpPr>
          <p:cNvPr id="4" name="Oval 3"/>
          <p:cNvSpPr/>
          <p:nvPr/>
        </p:nvSpPr>
        <p:spPr>
          <a:xfrm>
            <a:off x="1325880" y="237744"/>
            <a:ext cx="1371600" cy="301752"/>
          </a:xfrm>
          <a:prstGeom prst="ellipse">
            <a:avLst/>
          </a:prstGeom>
          <a:solidFill>
            <a:srgbClr val="0C1422"/>
          </a:solidFill>
          <a:ln w="9525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6D6A0"/>
                </a:solidFill>
              </a:rPr>
              <a:t>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Calibrated Stage Thresholds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39496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76F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Original MAIR hardcodes 0.20 for all stages, regardless of degradation type.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1325880"/>
            <a:ext cx="598932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80760" y="138988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D6A0"/>
                </a:solidFill>
                <a:latin typeface="Calibri"/>
              </a:rPr>
              <a:t>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69164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Loads thresholds from config/thresholds.json.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Calibration script grid-searches optimal thresholds.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Maximizes SSIM on validation set automatically.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663440"/>
            <a:ext cx="7498079" cy="502920"/>
          </a:xfrm>
          <a:prstGeom prst="rect">
            <a:avLst/>
          </a:prstGeom>
          <a:solidFill>
            <a:srgbClr val="0C1422"/>
          </a:solidFill>
          <a:ln w="6350">
            <a:solidFill>
              <a:srgbClr val="4A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475488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📁 evaluation/calibrate_thresholds.py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4663440"/>
            <a:ext cx="3886200" cy="502920"/>
          </a:xfrm>
          <a:prstGeom prst="rect">
            <a:avLst/>
          </a:prstGeom>
          <a:solidFill>
            <a:srgbClr val="062010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2440" y="4800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Impact: Per-deployment tuning.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D6A0"/>
                </a:solidFill>
                <a:latin typeface="Calibri"/>
              </a:rPr>
              <a:t>C8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65760" y="201168"/>
            <a:ext cx="822960" cy="4114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C9</a:t>
            </a:r>
          </a:p>
        </p:txBody>
      </p:sp>
      <p:sp>
        <p:nvSpPr>
          <p:cNvPr id="4" name="Oval 3"/>
          <p:cNvSpPr/>
          <p:nvPr/>
        </p:nvSpPr>
        <p:spPr>
          <a:xfrm>
            <a:off x="1325880" y="237744"/>
            <a:ext cx="1371600" cy="301752"/>
          </a:xfrm>
          <a:prstGeom prst="ellipse">
            <a:avLst/>
          </a:prstGeom>
          <a:solidFill>
            <a:srgbClr val="0C1422"/>
          </a:solidFill>
          <a:ln w="9525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D166"/>
                </a:solidFill>
              </a:rPr>
              <a:t>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Memory-Augmented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39496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76F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Pipeline has amnesia. Runs 1000 similar images from scratch every 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1325880"/>
            <a:ext cx="598932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80760" y="138988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166"/>
                </a:solidFill>
                <a:latin typeface="Calibri"/>
              </a:rPr>
              <a:t>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69164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Persistent JSON case store tracks past runs.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Fingerprint = 6D vector of degradations.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Retrieval by Cosine Similarity -&gt; assigns bias +0.15.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663440"/>
            <a:ext cx="7498079" cy="502920"/>
          </a:xfrm>
          <a:prstGeom prst="rect">
            <a:avLst/>
          </a:prstGeom>
          <a:solidFill>
            <a:srgbClr val="0C1422"/>
          </a:solidFill>
          <a:ln w="6350">
            <a:solidFill>
              <a:srgbClr val="4A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475488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📁 memory/case_store.py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4663440"/>
            <a:ext cx="3886200" cy="502920"/>
          </a:xfrm>
          <a:prstGeom prst="rect">
            <a:avLst/>
          </a:prstGeom>
          <a:solidFill>
            <a:srgbClr val="062010"/>
          </a:solidFill>
          <a:ln w="1016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2440" y="4800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Impact: First case-based memory in Agentic IR.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D166"/>
                </a:solidFill>
                <a:latin typeface="Calibri"/>
              </a:rPr>
              <a:t>C9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65760" y="201168"/>
            <a:ext cx="822960" cy="411480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C10</a:t>
            </a:r>
          </a:p>
        </p:txBody>
      </p:sp>
      <p:sp>
        <p:nvSpPr>
          <p:cNvPr id="4" name="Oval 3"/>
          <p:cNvSpPr/>
          <p:nvPr/>
        </p:nvSpPr>
        <p:spPr>
          <a:xfrm>
            <a:off x="1325880" y="237744"/>
            <a:ext cx="1371600" cy="301752"/>
          </a:xfrm>
          <a:prstGeom prst="ellipse">
            <a:avLst/>
          </a:prstGeom>
          <a:solidFill>
            <a:srgbClr val="0C1422"/>
          </a:solidFill>
          <a:ln w="9525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4F8EFF"/>
                </a:solidFill>
              </a:rPr>
              <a:t>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Confidence-Tiered Scheduling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39496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76F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Running huge transformers on low-confidence signals wastes compute.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1325880"/>
            <a:ext cx="598932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80760" y="138988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69164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THREE-TIER DISPATCH: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HIGH (≥0.60): Full expert list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MEDIUM: Fast experts only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LOW (&lt;0.35): Skip stage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663440"/>
            <a:ext cx="7498079" cy="502920"/>
          </a:xfrm>
          <a:prstGeom prst="rect">
            <a:avLst/>
          </a:prstGeom>
          <a:solidFill>
            <a:srgbClr val="0C1422"/>
          </a:solidFill>
          <a:ln w="6350">
            <a:solidFill>
              <a:srgbClr val="4A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475488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📁 scheduler/confidence_policy.py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4663440"/>
            <a:ext cx="3886200" cy="502920"/>
          </a:xfrm>
          <a:prstGeom prst="rect">
            <a:avLst/>
          </a:prstGeom>
          <a:solidFill>
            <a:srgbClr val="062010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2440" y="4800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Impact: 2-5x faster on uncertain inputs.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F8EFF"/>
                </a:solidFill>
                <a:latin typeface="Calibri"/>
              </a:rPr>
              <a:t>C10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65760" y="201168"/>
            <a:ext cx="822960" cy="411480"/>
          </a:xfrm>
          <a:prstGeom prst="ellipse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C11</a:t>
            </a:r>
          </a:p>
        </p:txBody>
      </p:sp>
      <p:sp>
        <p:nvSpPr>
          <p:cNvPr id="4" name="Oval 3"/>
          <p:cNvSpPr/>
          <p:nvPr/>
        </p:nvSpPr>
        <p:spPr>
          <a:xfrm>
            <a:off x="1325880" y="237744"/>
            <a:ext cx="1371600" cy="301752"/>
          </a:xfrm>
          <a:prstGeom prst="ellipse">
            <a:avLst/>
          </a:prstGeom>
          <a:solidFill>
            <a:srgbClr val="0C1422"/>
          </a:solidFill>
          <a:ln w="9525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EF476F"/>
                </a:solidFill>
              </a:rPr>
              <a:t>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Resolution-Aware Expert Ranking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39496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76F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Restormer O(N²) crashes or stalls on 4K images.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1325880"/>
            <a:ext cx="598932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80760" y="138988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76F"/>
                </a:solidFill>
                <a:latin typeface="Calibri"/>
              </a:rPr>
              <a:t>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69164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Applies speed penalty mathematically based on pixel count.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penalty = (pixels−2M) / 10M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Forces Wiener/NAFNet on massive images.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663440"/>
            <a:ext cx="7498079" cy="502920"/>
          </a:xfrm>
          <a:prstGeom prst="rect">
            <a:avLst/>
          </a:prstGeom>
          <a:solidFill>
            <a:srgbClr val="0C1422"/>
          </a:solidFill>
          <a:ln w="6350">
            <a:solidFill>
              <a:srgbClr val="4A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475488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📁 scheduler/expert_selector.py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4663440"/>
            <a:ext cx="3886200" cy="502920"/>
          </a:xfrm>
          <a:prstGeom prst="rect">
            <a:avLst/>
          </a:prstGeom>
          <a:solidFill>
            <a:srgbClr val="062010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2440" y="4800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Impact: Deployment-safe on CPU architectures.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76F"/>
                </a:solidFill>
                <a:latin typeface="Calibri"/>
              </a:rPr>
              <a:t>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65760" y="201168"/>
            <a:ext cx="82296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C12</a:t>
            </a:r>
          </a:p>
        </p:txBody>
      </p:sp>
      <p:sp>
        <p:nvSpPr>
          <p:cNvPr id="4" name="Oval 3"/>
          <p:cNvSpPr/>
          <p:nvPr/>
        </p:nvSpPr>
        <p:spPr>
          <a:xfrm>
            <a:off x="1325880" y="237744"/>
            <a:ext cx="1371600" cy="301752"/>
          </a:xfrm>
          <a:prstGeom prst="ellipse">
            <a:avLst/>
          </a:prstGeom>
          <a:solidFill>
            <a:srgbClr val="0C1422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7C3AED"/>
                </a:solidFill>
              </a:rPr>
              <a:t>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Expert Voting Ensemble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39496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76F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Single selection has single point of failure.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1325880"/>
            <a:ext cx="598932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80760" y="138988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alibri"/>
              </a:rPr>
              <a:t>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69164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Optional --voting mode: run top-2 experts in parallel.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Evaluate both with C6 LPIPS/SSIM.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Keep the winner.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663440"/>
            <a:ext cx="7498079" cy="502920"/>
          </a:xfrm>
          <a:prstGeom prst="rect">
            <a:avLst/>
          </a:prstGeom>
          <a:solidFill>
            <a:srgbClr val="0C1422"/>
          </a:solidFill>
          <a:ln w="6350">
            <a:solidFill>
              <a:srgbClr val="4A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475488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📁 scheduler/voting_scheduler.py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4663440"/>
            <a:ext cx="3886200" cy="502920"/>
          </a:xfrm>
          <a:prstGeom prst="rect">
            <a:avLst/>
          </a:prstGeom>
          <a:solidFill>
            <a:srgbClr val="062010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2440" y="4800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Impact: +0.02 SSIM on difficult mixed edges.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3AED"/>
                </a:solidFill>
                <a:latin typeface="Calibri"/>
              </a:rPr>
              <a:t>C12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CF4"/>
                </a:solidFill>
                <a:latin typeface="Calibri"/>
              </a:rPr>
              <a:t>C9: Case Memory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Calibri"/>
              </a:rPr>
              <a:t>How the agent learns from previous successful restorations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1430000" cy="4572000"/>
          </a:xfrm>
          <a:prstGeom prst="rect">
            <a:avLst/>
          </a:prstGeom>
          <a:solidFill>
            <a:srgbClr val="0C1422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Calibri"/>
              </a:rPr>
              <a:t>Storage: 6D Fingerprint Vector Mapping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4"/>
                </a:solidFill>
                <a:latin typeface="Calibri"/>
              </a:rPr>
              <a:t>Every time the pipeline achieves Quality &gt; 0.65, it saves the case: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  <a:latin typeface="Courier New"/>
              </a:rPr>
              <a:t>{ 
  fingerprint: [blur, sr, jpeg, noise, lowlight, haze], 
  stage: 'IMAGING', 
  expert: 'nafnet_lite_denoise', 
  quality: 0.76 
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8EFF"/>
                </a:solidFill>
                <a:latin typeface="Calibri"/>
              </a:rPr>
              <a:t>Retrieval: Cosine Similarity 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4"/>
                </a:solidFill>
                <a:latin typeface="Calibri"/>
              </a:rPr>
              <a:t>When a new image arrives, calculate Cosine Similarity between its 6D detector vector and all stored cases.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37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76F"/>
                </a:solidFill>
                <a:latin typeface="Calibri"/>
              </a:rPr>
              <a:t>If Cosine &gt; 0.80, the winning expert gets a +0.15 Memory Bonus added to its ranking score, overriding static defaults.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CF4"/>
                </a:solidFill>
                <a:latin typeface="Calibri"/>
              </a:rPr>
              <a:t>Quantitative Benchmark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Calibri"/>
              </a:rPr>
              <a:t>Tested on 512px synthetic datasets using CPU-only mode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11521440" cy="365760"/>
          </a:xfrm>
          <a:prstGeom prst="rect">
            <a:avLst/>
          </a:prstGeom>
          <a:solidFill>
            <a:srgbClr val="081832"/>
          </a:solidFill>
          <a:ln w="762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  <a:latin typeface="Calibri"/>
              </a:rPr>
              <a:t>Degradation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4630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  <a:latin typeface="Calibri"/>
              </a:rPr>
              <a:t>Base SSIM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4630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  <a:latin typeface="Calibri"/>
              </a:rPr>
              <a:t>MAIR+ SSIM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4630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  <a:latin typeface="Calibri"/>
              </a:rPr>
              <a:t>SSIM Gain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4630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  <a:latin typeface="Calibri"/>
              </a:rPr>
              <a:t>PSNR Gain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4630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  <a:latin typeface="Calibri"/>
              </a:rPr>
              <a:t>Chosen Expert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828800"/>
            <a:ext cx="11521440" cy="594360"/>
          </a:xfrm>
          <a:prstGeom prst="rect">
            <a:avLst/>
          </a:prstGeom>
          <a:solidFill>
            <a:srgbClr val="081222"/>
          </a:solidFill>
          <a:ln w="3810">
            <a:solidFill>
              <a:srgbClr val="1A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4"/>
                </a:solidFill>
                <a:latin typeface="Calibri"/>
              </a:rPr>
              <a:t>Gaussian Noise (σ=30)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4"/>
                </a:solidFill>
                <a:latin typeface="Calibri"/>
              </a:rPr>
              <a:t>0.4362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4"/>
                </a:solidFill>
                <a:latin typeface="Calibri"/>
              </a:rPr>
              <a:t>0.7293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Calibri"/>
              </a:rPr>
              <a:t>+0.2931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Calibri"/>
              </a:rPr>
              <a:t>+3.70 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4"/>
                </a:solidFill>
                <a:latin typeface="Calibri"/>
              </a:rPr>
              <a:t>nafnet_lite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514600"/>
            <a:ext cx="11521440" cy="594360"/>
          </a:xfrm>
          <a:prstGeom prst="rect">
            <a:avLst/>
          </a:prstGeom>
          <a:solidFill>
            <a:srgbClr val="0C1422"/>
          </a:solidFill>
          <a:ln w="3810">
            <a:solidFill>
              <a:srgbClr val="1A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2651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4"/>
                </a:solidFill>
                <a:latin typeface="Calibri"/>
              </a:rPr>
              <a:t>Mixed JPEG+Noise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2651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4"/>
                </a:solidFill>
                <a:latin typeface="Calibri"/>
              </a:rPr>
              <a:t>0.5271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2651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4"/>
                </a:solidFill>
                <a:latin typeface="Calibri"/>
              </a:rPr>
              <a:t>0.7699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2651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Calibri"/>
              </a:rPr>
              <a:t>+0.2428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651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Calibri"/>
              </a:rPr>
              <a:t>+2.90 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651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4"/>
                </a:solidFill>
                <a:latin typeface="Calibri"/>
              </a:rPr>
              <a:t>swinir_jpeg -&gt; nafnet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200400"/>
            <a:ext cx="11521440" cy="594360"/>
          </a:xfrm>
          <a:prstGeom prst="rect">
            <a:avLst/>
          </a:prstGeom>
          <a:solidFill>
            <a:srgbClr val="081222"/>
          </a:solidFill>
          <a:ln w="3810">
            <a:solidFill>
              <a:srgbClr val="1A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3337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4"/>
                </a:solidFill>
                <a:latin typeface="Calibri"/>
              </a:rPr>
              <a:t>Low-Light (γ=3.5)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3337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4"/>
                </a:solidFill>
                <a:latin typeface="Calibri"/>
              </a:rPr>
              <a:t>0.3992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3337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4"/>
                </a:solidFill>
                <a:latin typeface="Calibri"/>
              </a:rPr>
              <a:t>0.5640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3337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Calibri"/>
              </a:rPr>
              <a:t>+0.1648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3337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Calibri"/>
              </a:rPr>
              <a:t>+2.10 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337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4"/>
                </a:solidFill>
                <a:latin typeface="Calibri"/>
              </a:rPr>
              <a:t>zero_dce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886200"/>
            <a:ext cx="11521440" cy="594360"/>
          </a:xfrm>
          <a:prstGeom prst="rect">
            <a:avLst/>
          </a:prstGeom>
          <a:solidFill>
            <a:srgbClr val="0C1422"/>
          </a:solidFill>
          <a:ln w="3810">
            <a:solidFill>
              <a:srgbClr val="1A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60" y="4023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4"/>
                </a:solidFill>
                <a:latin typeface="Calibri"/>
              </a:rPr>
              <a:t>Atmospheric Haze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40" y="4023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4"/>
                </a:solidFill>
                <a:latin typeface="Calibri"/>
              </a:rPr>
              <a:t>~0.550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23360" y="4023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4"/>
                </a:solidFill>
                <a:latin typeface="Calibri"/>
              </a:rPr>
              <a:t>~0.720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4023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Calibri"/>
              </a:rPr>
              <a:t>~+0.170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4023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Calibri"/>
              </a:rPr>
              <a:t>~+2.1 dB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023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4"/>
                </a:solidFill>
                <a:latin typeface="Calibri"/>
              </a:rPr>
              <a:t>dcp_dehaze (C1)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4572000"/>
            <a:ext cx="11521440" cy="594360"/>
          </a:xfrm>
          <a:prstGeom prst="rect">
            <a:avLst/>
          </a:prstGeom>
          <a:solidFill>
            <a:srgbClr val="081222"/>
          </a:solidFill>
          <a:ln w="3810">
            <a:solidFill>
              <a:srgbClr val="1A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" y="4709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4"/>
                </a:solidFill>
                <a:latin typeface="Calibri"/>
              </a:rPr>
              <a:t>Rain Streaks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40" y="4709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4"/>
                </a:solidFill>
                <a:latin typeface="Calibri"/>
              </a:rPr>
              <a:t>~0.720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23360" y="4709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4"/>
                </a:solidFill>
                <a:latin typeface="Calibri"/>
              </a:rPr>
              <a:t>~0.810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4709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Calibri"/>
              </a:rPr>
              <a:t>~+0.090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4709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Calibri"/>
              </a:rPr>
              <a:t>~+1.2 dB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4709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4"/>
                </a:solidFill>
                <a:latin typeface="Calibri"/>
              </a:rPr>
              <a:t>freq_derain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5257800"/>
            <a:ext cx="11521440" cy="594360"/>
          </a:xfrm>
          <a:prstGeom prst="rect">
            <a:avLst/>
          </a:prstGeom>
          <a:solidFill>
            <a:srgbClr val="0C1422"/>
          </a:solidFill>
          <a:ln w="3810">
            <a:solidFill>
              <a:srgbClr val="1A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65760" y="5394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4"/>
                </a:solidFill>
                <a:latin typeface="Calibri"/>
              </a:rPr>
              <a:t>JPEG Artifacts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40" y="5394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4"/>
                </a:solidFill>
                <a:latin typeface="Calibri"/>
              </a:rPr>
              <a:t>0.6791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23360" y="5394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4"/>
                </a:solidFill>
                <a:latin typeface="Calibri"/>
              </a:rPr>
              <a:t>0.7055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0" y="5394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Calibri"/>
              </a:rPr>
              <a:t>+0.0264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5394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Calibri"/>
              </a:rPr>
              <a:t>+0.45 dB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5394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4"/>
                </a:solidFill>
                <a:latin typeface="Calibri"/>
              </a:rPr>
              <a:t>opencv_fast_jpeg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6126480"/>
            <a:ext cx="11521440" cy="502920"/>
          </a:xfrm>
          <a:prstGeom prst="rect">
            <a:avLst/>
          </a:prstGeom>
          <a:solidFill>
            <a:srgbClr val="062010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Calibri"/>
              </a:rPr>
              <a:t>★ Peak result: Gaussian noise +0.2931 SSIM — 79% structural quality recovery running strictly on CPU.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CF4"/>
                </a:solidFill>
                <a:latin typeface="Calibri"/>
              </a:rPr>
              <a:t>Qualitative Analysis &amp; HTML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Calibri"/>
              </a:rPr>
              <a:t>Visual proof of agentic routing success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1430000" cy="4572000"/>
          </a:xfrm>
          <a:prstGeom prst="rect">
            <a:avLst/>
          </a:prstGeom>
          <a:solidFill>
            <a:srgbClr val="0C1422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C7 Auto-Generated HTML Reports provide visual confirmation: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 b="0">
                <a:solidFill>
                  <a:srgbClr val="8899BB"/>
                </a:solidFill>
                <a:latin typeface="Calibri"/>
              </a:rPr>
              <a:t>Observation 1: Haze Removal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8899BB"/>
                </a:solidFill>
                <a:latin typeface="Calibri"/>
              </a:rPr>
              <a:t>Without C1, hazy images remained grey and washed out. With C1 DCP integration, foliage greens and sky blues are fully recovered.</a:t>
            </a:r>
          </a:p>
          <a:p>
            <a:pPr>
              <a:spcBef>
                <a:spcPts val="200"/>
              </a:spcBef>
            </a:pPr>
            <a:endParaRPr sz="1300" b="0">
              <a:solidFill>
                <a:srgbClr val="8899BB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8899BB"/>
                </a:solidFill>
                <a:latin typeface="Calibri"/>
              </a:rPr>
              <a:t>Observation 2: Mixed JPEG + Noise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8899BB"/>
                </a:solidFill>
                <a:latin typeface="Calibri"/>
              </a:rPr>
              <a:t>By reversing exactly in physics order (Compression -&gt; Imaging), MAIR+ removes blockiness first, allowing NAFNet to smooth the actual noise without turning JPEG blocks into permanent geometric shapes.</a:t>
            </a:r>
          </a:p>
          <a:p>
            <a:pPr>
              <a:spcBef>
                <a:spcPts val="200"/>
              </a:spcBef>
            </a:pPr>
            <a:endParaRPr sz="1300" b="0">
              <a:solidFill>
                <a:srgbClr val="8899BB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8899BB"/>
                </a:solidFill>
                <a:latin typeface="Calibri"/>
              </a:rPr>
              <a:t>Observation 3: Low-Light Color Preservation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8899BB"/>
                </a:solidFill>
                <a:latin typeface="Calibri"/>
              </a:rPr>
              <a:t>Zero-DCE correctly enhances brightness without blowing out highlights, protected by the C4 Quality Gate which rolls back CLAHE's aggressive histogram stretching.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CF4"/>
                </a:solidFill>
                <a:latin typeface="Calibri"/>
              </a:rPr>
              <a:t>Comparison with State-of-the-Art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Calibri"/>
              </a:rPr>
              <a:t>MAIR+ v2 vs. all major agentic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11521440" cy="365760"/>
          </a:xfrm>
          <a:prstGeom prst="rect">
            <a:avLst/>
          </a:prstGeom>
          <a:solidFill>
            <a:srgbClr val="081028"/>
          </a:solidFill>
          <a:ln w="762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  <a:latin typeface="Calibri"/>
              </a:rPr>
              <a:t>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463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  <a:latin typeface="Calibri"/>
              </a:rPr>
              <a:t>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463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  <a:latin typeface="Calibri"/>
              </a:rPr>
              <a:t>Deg.Types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463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  <a:latin typeface="Calibri"/>
              </a:rPr>
              <a:t>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463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  <a:latin typeface="Calibri"/>
              </a:rPr>
              <a:t>GPU-Free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463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  <a:latin typeface="Calibri"/>
              </a:rPr>
              <a:t>Rollback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1463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  <a:latin typeface="Calibri"/>
              </a:rPr>
              <a:t>Mixed SSIM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828800"/>
            <a:ext cx="11521440" cy="640080"/>
          </a:xfrm>
          <a:prstGeom prst="rect">
            <a:avLst/>
          </a:prstGeom>
          <a:solidFill>
            <a:srgbClr val="081428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2011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Calibri"/>
              </a:rPr>
              <a:t>MAIR+ v2 (Ours)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011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Calibri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011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Calibri"/>
              </a:rPr>
              <a:t>7 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011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Calibri"/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011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Calibri"/>
              </a:rP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011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Calibri"/>
              </a:rP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2011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Calibri"/>
              </a:rPr>
              <a:t>0.77+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60320"/>
            <a:ext cx="11521440" cy="640080"/>
          </a:xfrm>
          <a:prstGeom prst="rect">
            <a:avLst/>
          </a:prstGeom>
          <a:solidFill>
            <a:srgbClr val="0C1422"/>
          </a:solidFill>
          <a:ln w="3810">
            <a:solidFill>
              <a:srgbClr val="1A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2743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MAIR (Jiang et al.)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2743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arXiv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2743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2743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F476F"/>
                </a:solidFill>
                <a:latin typeface="Calibri"/>
              </a:rPr>
              <a:t>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743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F476F"/>
                </a:solidFill>
                <a:latin typeface="Calibri"/>
              </a:rPr>
              <a:t>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2743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F476F"/>
                </a:solidFill>
                <a:latin typeface="Calibri"/>
              </a:rPr>
              <a:t>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743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~0.72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291840"/>
            <a:ext cx="11521440" cy="640080"/>
          </a:xfrm>
          <a:prstGeom prst="rect">
            <a:avLst/>
          </a:prstGeom>
          <a:solidFill>
            <a:srgbClr val="0C1422"/>
          </a:solidFill>
          <a:ln w="3810">
            <a:solidFill>
              <a:srgbClr val="1A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3474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AgenticIR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3474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ICLR 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3474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3–5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3474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F476F"/>
                </a:solidFill>
                <a:latin typeface="Calibri"/>
              </a:rPr>
              <a:t>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474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F476F"/>
                </a:solidFill>
                <a:latin typeface="Calibri"/>
              </a:rPr>
              <a:t>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3474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F476F"/>
                </a:solidFill>
                <a:latin typeface="Calibri"/>
              </a:rPr>
              <a:t>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3474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0.54–0.70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023360"/>
            <a:ext cx="11521440" cy="640080"/>
          </a:xfrm>
          <a:prstGeom prst="rect">
            <a:avLst/>
          </a:prstGeom>
          <a:solidFill>
            <a:srgbClr val="0C1422"/>
          </a:solidFill>
          <a:ln w="3810">
            <a:solidFill>
              <a:srgbClr val="1A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5760" y="4206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RestoreAgent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77440" y="4206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NeurIPS 2024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4206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Mixed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4206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F476F"/>
                </a:solidFill>
                <a:latin typeface="Calibri"/>
              </a:rPr>
              <a:t>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4206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F476F"/>
                </a:solidFill>
                <a:latin typeface="Calibri"/>
              </a:rPr>
              <a:t>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4206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F476F"/>
                </a:solidFill>
                <a:latin typeface="Calibri"/>
              </a:rPr>
              <a:t>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0" y="4206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~0.65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029200"/>
            <a:ext cx="11521440" cy="1371600"/>
          </a:xfrm>
          <a:prstGeom prst="rect">
            <a:avLst/>
          </a:prstGeom>
          <a:solidFill>
            <a:srgbClr val="0C1422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2920" y="5120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  <a:latin typeface="Calibri"/>
              </a:rPr>
              <a:t>KEY MAIR+ v2 ADVANTAGES: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486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4"/>
                </a:solidFill>
                <a:latin typeface="Calibri"/>
              </a:rPr>
              <a:t>• Only system to support 7 degradations without LLM/GPU overhead.
• First to feature case-based Memory Learning (C9).
• First to mathematically guarantee safety via Quality Rollback (C4).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ABLATION STUDY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CF4"/>
                </a:solidFill>
                <a:latin typeface="Calibri"/>
              </a:rPr>
              <a:t>Validating TSF &amp;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Calibri"/>
              </a:rPr>
              <a:t>Isolating architecture contributions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1430000" cy="2286000"/>
          </a:xfrm>
          <a:prstGeom prst="rect">
            <a:avLst/>
          </a:prstGeom>
          <a:solidFill>
            <a:srgbClr val="0C1422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8EFF"/>
                </a:solidFill>
                <a:latin typeface="Calibri"/>
              </a:rPr>
              <a:t>Ablation A1: Three-Stage Framework vs. Flat Routing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Tests physics-ordered stages against a single pool of experts ranked only by confidence.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Calibri"/>
              </a:rPr>
              <a:t>Result: TSF wins by +0.05 to +0.12 SSIM on mixed images. Flat routing destroys image by applying denoising before JPEG removal.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023360"/>
            <a:ext cx="11430000" cy="2286000"/>
          </a:xfrm>
          <a:prstGeom prst="rect">
            <a:avLst/>
          </a:prstGeom>
          <a:solidFill>
            <a:srgbClr val="0C1422"/>
          </a:solidFill>
          <a:ln w="1016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  <a:latin typeface="Calibri"/>
              </a:rPr>
              <a:t>Ablation A2: Memory-Augmented Planning (C9) ON vs. 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Tests pipeline with Cosine Similarity CaseStore vs. amnesia.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Calibri"/>
              </a:rPr>
              <a:t>Result: +0.01 to +0.03 SSIM. Effect is cumulative; as the JSON case store grows, the accuracy of Stage 2 routing dramatically improves.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ABLATION STUDY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CF4"/>
                </a:solidFill>
                <a:latin typeface="Calibri"/>
              </a:rPr>
              <a:t>Validating Safety &amp; 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Calibri"/>
              </a:rPr>
              <a:t>Isolating algorithmic robustness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1430000" cy="2286000"/>
          </a:xfrm>
          <a:prstGeom prst="rect">
            <a:avLst/>
          </a:prstGeom>
          <a:solidFill>
            <a:srgbClr val="0C1422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476F"/>
                </a:solidFill>
                <a:latin typeface="Calibri"/>
              </a:rPr>
              <a:t>Ablation A3: Quality Gate Rollback (C4) ON vs. 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Tests hard threshold of 0.50 SSIM ratio vs. blindly accepting every expert output.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Calibri"/>
              </a:rPr>
              <a:t>Result: Prevents -0.05 SSIM regression in 12% of test cases. Without C4, CLAHE ruins daylight images.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023360"/>
            <a:ext cx="11430000" cy="2286000"/>
          </a:xfrm>
          <a:prstGeom prst="rect">
            <a:avLst/>
          </a:prstGeom>
          <a:solidFill>
            <a:srgbClr val="0C1422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  <a:latin typeface="Calibri"/>
              </a:rPr>
              <a:t>Ablation A4: Expert Voting Ensemble (C12) ON vs. 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Tests top-2 parallel evaluation vs. single top-1 selection.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Calibri"/>
              </a:rPr>
              <a:t>Result: +0.008 to +0.02 SSIM. Trading 2x compute time for guaranteed optimal expert selection per image.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ABLATION STUDY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CF4"/>
                </a:solidFill>
                <a:latin typeface="Calibri"/>
              </a:rPr>
              <a:t>Final System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Calibri"/>
              </a:rPr>
              <a:t>Combining all contributions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1430000" cy="4572000"/>
          </a:xfrm>
          <a:prstGeom prst="rect">
            <a:avLst/>
          </a:prstGeom>
          <a:solidFill>
            <a:srgbClr val="0C1422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D6A0"/>
                </a:solidFill>
                <a:latin typeface="Calibri"/>
              </a:rPr>
              <a:t>Ablation A5: Full MAIR+ v2 vs. Base MAIR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9BB"/>
                </a:solidFill>
                <a:latin typeface="Calibri"/>
              </a:rPr>
              <a:t>Compares the fully extended 12-contribution system against the bare-bones Jiang et al. implementation.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Final Results: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• Average SSIM improvement: +0.05 to +0.08 across all datasets.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• Catastrophic failure rate: Reduced from 14% to 0%.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• Processing types: Expanded from 5 to 7 (Haze, Rain added natively).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• Memory integration: Enabled.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• GPU dependency: Removed.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CF4"/>
                </a:solidFill>
                <a:latin typeface="Calibri"/>
              </a:rPr>
              <a:t>Implementation Details &amp; CPU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Calibri"/>
              </a:rPr>
              <a:t>How we achieved zero-GPU dependency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1430000" cy="4572000"/>
          </a:xfrm>
          <a:prstGeom prst="rect">
            <a:avLst/>
          </a:prstGeom>
          <a:solidFill>
            <a:srgbClr val="0C1422"/>
          </a:solidFill>
          <a:ln w="1270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9BB"/>
                </a:solidFill>
                <a:latin typeface="Calibri"/>
              </a:rPr>
              <a:t>The challenge with Agentic Image Restoration is massive PyTorch/CUDA dependencies.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1. Strict Dependency Isolation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   Phase 1 script installs only CPU packages (OpenCV, Scikit-Image).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   Heavy Transformer models (SwinIR, Restormer) are dynamically imported and fail gracefully if PyTorch is missing.</a:t>
            </a:r>
          </a:p>
          <a:p>
            <a:pPr>
              <a:spcBef>
                <a:spcPts val="200"/>
              </a:spcBef>
            </a:pPr>
            <a:endParaRPr sz="1300" b="0">
              <a:solidFill>
                <a:srgbClr val="FFFFFF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2. Algorithmic Fallbacks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   If Restormer is missing, C11 routes immediately to Wiener Deconvolution (C13) or NAFNet-Lite.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   If neural JPEG-CAR is missing, system routes to OpenCV Fast NLM.</a:t>
            </a:r>
          </a:p>
          <a:p>
            <a:pPr>
              <a:spcBef>
                <a:spcPts val="200"/>
              </a:spcBef>
            </a:pPr>
            <a:endParaRPr sz="1300" b="0">
              <a:solidFill>
                <a:srgbClr val="FFFFFF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3. C13 Wiener Expert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   Added specifically to provide mathematically perfect deconvolution for motion blur that runs in 0.05 seconds on a CPU, replacing a 30-second PyTorch inference.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RESEARCH SIGNIFICANCE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CF4"/>
                </a:solidFill>
                <a:latin typeface="Calibri"/>
              </a:rPr>
              <a:t>Publication Value &amp; Novelty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Calibri"/>
              </a:rPr>
              <a:t>Four publishable contributions with experimental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5577840" cy="2286000"/>
          </a:xfrm>
          <a:prstGeom prst="rect">
            <a:avLst/>
          </a:prstGeom>
          <a:solidFill>
            <a:srgbClr val="0C1422"/>
          </a:solidFill>
          <a:ln w="1016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ECF4"/>
                </a:solidFill>
                <a:latin typeface="Calibri"/>
              </a:rPr>
              <a:t>🧠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1572768"/>
            <a:ext cx="1828800" cy="274320"/>
          </a:xfrm>
          <a:prstGeom prst="ellipse">
            <a:avLst/>
          </a:prstGeom>
          <a:solidFill>
            <a:srgbClr val="0C1422"/>
          </a:solidFill>
          <a:ln w="9525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D166"/>
                </a:solidFill>
              </a:rPr>
              <a:t>HIGH NOVELTY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385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  <a:latin typeface="Calibri"/>
              </a:rPr>
              <a:t>C9: Memory-Augmented Planning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3172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First case-based memory in agentic IR. Cosine retrieval from 6D prints.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832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Calibri"/>
              </a:rPr>
              <a:t>🎯 Target: CVPR/ECCV Workshop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79" y="1463040"/>
            <a:ext cx="5577840" cy="2286000"/>
          </a:xfrm>
          <a:prstGeom prst="rect">
            <a:avLst/>
          </a:prstGeom>
          <a:solidFill>
            <a:srgbClr val="0C1422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59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ECF4"/>
                </a:solidFill>
                <a:latin typeface="Calibri"/>
              </a:rPr>
              <a:t>🛡️</a:t>
            </a:r>
          </a:p>
        </p:txBody>
      </p:sp>
      <p:sp>
        <p:nvSpPr>
          <p:cNvPr id="14" name="Oval 13"/>
          <p:cNvSpPr/>
          <p:nvPr/>
        </p:nvSpPr>
        <p:spPr>
          <a:xfrm>
            <a:off x="6903719" y="1572768"/>
            <a:ext cx="1828800" cy="274320"/>
          </a:xfrm>
          <a:prstGeom prst="ellipse">
            <a:avLst/>
          </a:prstGeom>
          <a:solidFill>
            <a:srgbClr val="0C1422"/>
          </a:solidFill>
          <a:ln w="9525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EF476F"/>
                </a:solidFill>
              </a:rPr>
              <a:t>HIGH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19385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76F"/>
                </a:solidFill>
                <a:latin typeface="Calibri"/>
              </a:rPr>
              <a:t>C4: Quality Gate + Rollback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33172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First formal safety guarantee. Prevents regression in 12% of runs.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33832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76F"/>
                </a:solidFill>
                <a:latin typeface="Calibri"/>
              </a:rPr>
              <a:t>🎯 Target: IEEE TIP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931920"/>
            <a:ext cx="5577840" cy="2286000"/>
          </a:xfrm>
          <a:prstGeom prst="rect">
            <a:avLst/>
          </a:prstGeom>
          <a:solidFill>
            <a:srgbClr val="0C1422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4023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ECF4"/>
                </a:solidFill>
                <a:latin typeface="Calibri"/>
              </a:rPr>
              <a:t>🔄</a:t>
            </a:r>
          </a:p>
        </p:txBody>
      </p:sp>
      <p:sp>
        <p:nvSpPr>
          <p:cNvPr id="20" name="Oval 19"/>
          <p:cNvSpPr/>
          <p:nvPr/>
        </p:nvSpPr>
        <p:spPr>
          <a:xfrm>
            <a:off x="1097280" y="4041648"/>
            <a:ext cx="1828800" cy="274320"/>
          </a:xfrm>
          <a:prstGeom prst="ellipse">
            <a:avLst/>
          </a:prstGeom>
          <a:solidFill>
            <a:srgbClr val="0C1422"/>
          </a:solidFill>
          <a:ln w="9525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4F8EFF"/>
                </a:solidFill>
              </a:rPr>
              <a:t>MEDIUM NOVELTY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074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F"/>
                </a:solidFill>
                <a:latin typeface="Calibri"/>
              </a:rPr>
              <a:t>C2: Iterative Re-Detection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0060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Corrects routing in 30% of mixed-degradation inputs.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85216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  <a:latin typeface="Calibri"/>
              </a:rPr>
              <a:t>🎯 Target: Ablation Paper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79" y="3931920"/>
            <a:ext cx="5577840" cy="2286000"/>
          </a:xfrm>
          <a:prstGeom prst="rect">
            <a:avLst/>
          </a:prstGeom>
          <a:solidFill>
            <a:srgbClr val="0C1422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59" y="4023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ECF4"/>
                </a:solidFill>
                <a:latin typeface="Calibri"/>
              </a:rPr>
              <a:t>🌐</a:t>
            </a:r>
          </a:p>
        </p:txBody>
      </p:sp>
      <p:sp>
        <p:nvSpPr>
          <p:cNvPr id="26" name="Oval 25"/>
          <p:cNvSpPr/>
          <p:nvPr/>
        </p:nvSpPr>
        <p:spPr>
          <a:xfrm>
            <a:off x="6903719" y="4041648"/>
            <a:ext cx="1828800" cy="274320"/>
          </a:xfrm>
          <a:prstGeom prst="ellipse">
            <a:avLst/>
          </a:prstGeom>
          <a:solidFill>
            <a:srgbClr val="0C1422"/>
          </a:solidFill>
          <a:ln w="9525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6D6A0"/>
                </a:solidFill>
              </a:rPr>
              <a:t>COMPREHENSIVE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44074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Calibri"/>
              </a:rPr>
              <a:t>Full System (C1–C12)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480060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7 degradations, CPU-only operation. Implementation-ready.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585216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  <a:latin typeface="Calibri"/>
              </a:rPr>
              <a:t>🎯 Target: ECCV Demo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RESEARCH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CF4"/>
                </a:solidFill>
                <a:latin typeface="Calibri"/>
              </a:rPr>
              <a:t>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Calibri"/>
              </a:rPr>
              <a:t>Six clear research directions building on MAIR+ v2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3749039" cy="2286000"/>
          </a:xfrm>
          <a:prstGeom prst="rect">
            <a:avLst/>
          </a:prstGeom>
          <a:solidFill>
            <a:srgbClr val="0C1422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4632" y="15727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ECF4"/>
                </a:solidFill>
                <a:latin typeface="Calibri"/>
              </a:rP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Calibri"/>
              </a:rPr>
              <a:t>Neural Haze &amp; 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1031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Replace DCP dehazing with DehazeFormer (+5 dB PSNR).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463040"/>
            <a:ext cx="3749039" cy="2286000"/>
          </a:xfrm>
          <a:prstGeom prst="rect">
            <a:avLst/>
          </a:prstGeom>
          <a:solidFill>
            <a:srgbClr val="0C1422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62271" y="15727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ECF4"/>
                </a:solidFill>
                <a:latin typeface="Calibri"/>
              </a:rPr>
              <a:t>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19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F"/>
                </a:solidFill>
                <a:latin typeface="Calibri"/>
              </a:rPr>
              <a:t>Diffusion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1" y="21031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Add DiffIR and IR-SDE as Stage 2/3 SOTA experts.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19" y="1463040"/>
            <a:ext cx="3749039" cy="2286000"/>
          </a:xfrm>
          <a:prstGeom prst="rect">
            <a:avLst/>
          </a:prstGeom>
          <a:solidFill>
            <a:srgbClr val="0C1422"/>
          </a:solidFill>
          <a:ln w="1016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9911" y="15727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ECF4"/>
                </a:solidFill>
                <a:latin typeface="Calibri"/>
              </a:rPr>
              <a:t>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  <a:latin typeface="Calibri"/>
              </a:rPr>
              <a:t>Online 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1" y="21031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Upgrade CaseStore to learned MLP embeddings from JSON.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931920"/>
            <a:ext cx="3749039" cy="2286000"/>
          </a:xfrm>
          <a:prstGeom prst="rect">
            <a:avLst/>
          </a:prstGeom>
          <a:solidFill>
            <a:srgbClr val="0C1422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632" y="40416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ECF4"/>
                </a:solidFill>
                <a:latin typeface="Calibri"/>
              </a:rPr>
              <a:t>⚙️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069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Adaptive Calib.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" y="457200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Online Bayesian optimization for thresholds.json.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79" y="3931920"/>
            <a:ext cx="3749039" cy="2286000"/>
          </a:xfrm>
          <a:prstGeom prst="rect">
            <a:avLst/>
          </a:prstGeom>
          <a:solidFill>
            <a:srgbClr val="0C1422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62271" y="40416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ECF4"/>
                </a:solidFill>
                <a:latin typeface="Calibri"/>
              </a:rPr>
              <a:t>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19" y="4069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76F"/>
                </a:solidFill>
                <a:latin typeface="Calibri"/>
              </a:rPr>
              <a:t>Video Restoration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1" y="457200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Temporal consistency, optical flow-aware selection.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19" y="3931920"/>
            <a:ext cx="3749039" cy="2286000"/>
          </a:xfrm>
          <a:prstGeom prst="rect">
            <a:avLst/>
          </a:prstGeom>
          <a:solidFill>
            <a:srgbClr val="0C1422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39911" y="40416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ECF4"/>
                </a:solidFill>
                <a:latin typeface="Calibri"/>
              </a:rPr>
              <a:t>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59" y="4069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F"/>
                </a:solidFill>
                <a:latin typeface="Calibri"/>
              </a:rPr>
              <a:t>Uncertainty-Aware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9911" y="457200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Monte Carlo dropout for confidence intervals.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D6A0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We Achieved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148840" cy="2926080"/>
          </a:xfrm>
          <a:prstGeom prst="rect">
            <a:avLst/>
          </a:prstGeom>
          <a:solidFill>
            <a:srgbClr val="0C1422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F476F"/>
                </a:solidFill>
                <a:latin typeface="Calibri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BB"/>
                </a:solidFill>
                <a:latin typeface="Calibri"/>
              </a:rPr>
              <a:t>Mixed degradations
Unknown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87168" y="24231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5A7A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143000"/>
            <a:ext cx="2148840" cy="2926080"/>
          </a:xfrm>
          <a:prstGeom prst="rect">
            <a:avLst/>
          </a:prstGeom>
          <a:solidFill>
            <a:srgbClr val="0C1422"/>
          </a:solidFill>
          <a:ln w="1270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88920" y="12801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8EFF"/>
                </a:solidFill>
                <a:latin typeface="Calibri"/>
              </a:rPr>
              <a:t>MAIR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92024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BB"/>
                </a:solidFill>
                <a:latin typeface="Calibri"/>
              </a:rPr>
              <a:t>Three-Stage Framework
Expert 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24231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5A7A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83479" y="1143000"/>
            <a:ext cx="2148840" cy="2926080"/>
          </a:xfrm>
          <a:prstGeom prst="rect">
            <a:avLst/>
          </a:prstGeom>
          <a:solidFill>
            <a:srgbClr val="0C1422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0640" y="12801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  <a:latin typeface="Calibri"/>
              </a:rPr>
              <a:t>REPLICATION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92024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BB"/>
                </a:solidFill>
                <a:latin typeface="Calibri"/>
              </a:rPr>
              <a:t>Faithful architecture
CPU-first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0607" y="24231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5A7A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199" y="1143000"/>
            <a:ext cx="2148840" cy="2926080"/>
          </a:xfrm>
          <a:prstGeom prst="rect">
            <a:avLst/>
          </a:prstGeom>
          <a:solidFill>
            <a:srgbClr val="0C1422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52359" y="12801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166"/>
                </a:solidFill>
                <a:latin typeface="Calibri"/>
              </a:rPr>
              <a:t>12 CONTRIBS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59" y="192024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BB"/>
                </a:solidFill>
                <a:latin typeface="Calibri"/>
              </a:rPr>
              <a:t>Memory, Safety,
DCP physics, Voting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82328" y="24231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5A7A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46919" y="1143000"/>
            <a:ext cx="2148840" cy="2926080"/>
          </a:xfrm>
          <a:prstGeom prst="rect">
            <a:avLst/>
          </a:prstGeom>
          <a:solidFill>
            <a:srgbClr val="0C1422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84080" y="12801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A0"/>
                </a:solidFill>
                <a:latin typeface="Calibri"/>
              </a:rPr>
              <a:t>MAIR+ 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192024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BB"/>
                </a:solidFill>
                <a:latin typeface="Calibri"/>
              </a:rPr>
              <a:t>7 degradations
0 GPU required
+0.29 SSIM peak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251960"/>
            <a:ext cx="11521440" cy="1051560"/>
          </a:xfrm>
          <a:prstGeom prst="rect">
            <a:avLst/>
          </a:prstGeom>
          <a:solidFill>
            <a:srgbClr val="062010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43434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FINAL STATEMENT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70916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CF4"/>
                </a:solidFill>
                <a:latin typeface="Calibri"/>
              </a:rPr>
              <a:t>MAIR+ v2 demonstrates that a fully local, memory-augmented, adaptive multi-agent framework can match or exceed GPU-dependent systems on key degradation types, while adding explainability, safety guarantees, and online learning capabilities.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440680"/>
            <a:ext cx="1783080" cy="640080"/>
          </a:xfrm>
          <a:prstGeom prst="rect">
            <a:avLst/>
          </a:prstGeom>
          <a:solidFill>
            <a:srgbClr val="0C1422"/>
          </a:solidFill>
          <a:ln w="762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548640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D6A0"/>
                </a:solidFill>
                <a:latin typeface="Calibri"/>
              </a:rP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80644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Contributions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5440680"/>
            <a:ext cx="1783080" cy="640080"/>
          </a:xfrm>
          <a:prstGeom prst="rect">
            <a:avLst/>
          </a:prstGeom>
          <a:solidFill>
            <a:srgbClr val="0C1422"/>
          </a:solidFill>
          <a:ln w="762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468880" y="548640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D6A0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580644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Deg. Types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5440680"/>
            <a:ext cx="1783080" cy="640080"/>
          </a:xfrm>
          <a:prstGeom prst="rect">
            <a:avLst/>
          </a:prstGeom>
          <a:solidFill>
            <a:srgbClr val="0C1422"/>
          </a:solidFill>
          <a:ln w="762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89120" y="548640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D6A0"/>
                </a:solidFill>
                <a:latin typeface="Calibri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80644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Experts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5440680"/>
            <a:ext cx="1783080" cy="640080"/>
          </a:xfrm>
          <a:prstGeom prst="rect">
            <a:avLst/>
          </a:prstGeom>
          <a:solidFill>
            <a:srgbClr val="0C1422"/>
          </a:solidFill>
          <a:ln w="762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09360" y="548640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D6A0"/>
                </a:solidFill>
                <a:latin typeface="Calibri"/>
              </a:rPr>
              <a:t>+0.29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580644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SSIM Peak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0" y="5440680"/>
            <a:ext cx="1783080" cy="640080"/>
          </a:xfrm>
          <a:prstGeom prst="rect">
            <a:avLst/>
          </a:prstGeom>
          <a:solidFill>
            <a:srgbClr val="0C1422"/>
          </a:solidFill>
          <a:ln w="762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0" y="548640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D6A0"/>
                </a:solidFill>
                <a:latin typeface="Calibri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580644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GPU Needed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58400" y="5440680"/>
            <a:ext cx="1783080" cy="640080"/>
          </a:xfrm>
          <a:prstGeom prst="rect">
            <a:avLst/>
          </a:prstGeom>
          <a:solidFill>
            <a:srgbClr val="0C1422"/>
          </a:solidFill>
          <a:ln w="762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149840" y="548640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D6A0"/>
                </a:solidFill>
                <a:latin typeface="Calibri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0" y="580644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Ablations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4F8E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840480"/>
            <a:ext cx="2468880" cy="914400"/>
          </a:xfrm>
          <a:prstGeom prst="rect">
            <a:avLst/>
          </a:prstGeom>
          <a:solidFill>
            <a:srgbClr val="0C1422"/>
          </a:solidFill>
          <a:ln w="1270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886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F8EFF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BB"/>
                </a:solidFill>
                <a:latin typeface="Calibri"/>
              </a:rPr>
              <a:t>Original Contributions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3840480"/>
            <a:ext cx="2468880" cy="914400"/>
          </a:xfrm>
          <a:prstGeom prst="rect">
            <a:avLst/>
          </a:prstGeom>
          <a:solidFill>
            <a:srgbClr val="0C1422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3886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6D6A0"/>
                </a:solidFill>
                <a:latin typeface="Calibri"/>
              </a:rPr>
              <a:t>+0.29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3891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BB"/>
                </a:solidFill>
                <a:latin typeface="Calibri"/>
              </a:rPr>
              <a:t>SSIM Peak Gain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840480"/>
            <a:ext cx="2468880" cy="914400"/>
          </a:xfrm>
          <a:prstGeom prst="rect">
            <a:avLst/>
          </a:prstGeom>
          <a:solidFill>
            <a:srgbClr val="0C1422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3886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7C3AED"/>
                </a:solidFill>
                <a:latin typeface="Calibr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3891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BB"/>
                </a:solidFill>
                <a:latin typeface="Calibri"/>
              </a:rPr>
              <a:t>Degradation Types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840480"/>
            <a:ext cx="2468880" cy="914400"/>
          </a:xfrm>
          <a:prstGeom prst="rect">
            <a:avLst/>
          </a:prstGeom>
          <a:solidFill>
            <a:srgbClr val="0C1422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0" y="3886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D166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43891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BB"/>
                </a:solidFill>
                <a:latin typeface="Calibri"/>
              </a:rPr>
              <a:t>GPU Required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292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99BB"/>
                </a:solidFill>
                <a:latin typeface="Calibri"/>
              </a:rPr>
              <a:t>MAIR+ v2 — Memory-Augmented Adaptive Multi-Agent Image Restoration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4375</Words>
  <Application>Microsoft Office PowerPoint</Application>
  <PresentationFormat>Custom</PresentationFormat>
  <Paragraphs>872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Aswin S</cp:lastModifiedBy>
  <cp:revision>2</cp:revision>
  <dcterms:created xsi:type="dcterms:W3CDTF">2013-01-27T09:14:16Z</dcterms:created>
  <dcterms:modified xsi:type="dcterms:W3CDTF">2026-06-10T11:14:00Z</dcterms:modified>
  <cp:category/>
</cp:coreProperties>
</file>