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1247120" cy="292608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  <a:latin typeface="Calibri"/>
              </a:rPr>
              <a:t>Research Implementation  ·  MAIR Paper Replication + 12 Original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MAIR+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4F8EFF"/>
                </a:solidFill>
                <a:latin typeface="Calibri"/>
              </a:rPr>
              <a:t>Memory-Augmented Adaptive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6D6A0"/>
                </a:solidFill>
                <a:latin typeface="Calibri"/>
              </a:rPr>
              <a:t>Multi-Agent Image Restoration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BB"/>
                </a:solidFill>
                <a:latin typeface="Calibri"/>
              </a:rPr>
              <a:t>Complete replication of Jiang et al. (arXiv:2503.09403) + 12 original research contributions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2900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Contributions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42900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Expert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342900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Degradation Types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42900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+0.29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SSIM Peak Gain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3429000"/>
            <a:ext cx="2011680" cy="8229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6D6A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GPU Required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434840"/>
            <a:ext cx="1623060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  <a:latin typeface="Calibri"/>
              </a:rPr>
              <a:t>Python · OpenCV</a:t>
            </a:r>
          </a:p>
        </p:txBody>
      </p:sp>
      <p:sp>
        <p:nvSpPr>
          <p:cNvPr id="25" name="Oval 24"/>
          <p:cNvSpPr/>
          <p:nvPr/>
        </p:nvSpPr>
        <p:spPr>
          <a:xfrm>
            <a:off x="2217420" y="4434840"/>
            <a:ext cx="1778508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  <a:latin typeface="Calibri"/>
              </a:rPr>
              <a:t>Zero GPU Required</a:t>
            </a:r>
          </a:p>
        </p:txBody>
      </p:sp>
      <p:sp>
        <p:nvSpPr>
          <p:cNvPr id="26" name="Oval 25"/>
          <p:cNvSpPr/>
          <p:nvPr/>
        </p:nvSpPr>
        <p:spPr>
          <a:xfrm>
            <a:off x="4133088" y="4434840"/>
            <a:ext cx="2089404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C3AED"/>
                </a:solidFill>
                <a:latin typeface="Calibri"/>
              </a:rPr>
              <a:t>Three-Stage Framework</a:t>
            </a:r>
          </a:p>
        </p:txBody>
      </p:sp>
      <p:sp>
        <p:nvSpPr>
          <p:cNvPr id="27" name="Oval 26"/>
          <p:cNvSpPr/>
          <p:nvPr/>
        </p:nvSpPr>
        <p:spPr>
          <a:xfrm>
            <a:off x="6359652" y="4434840"/>
            <a:ext cx="1778508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D166"/>
                </a:solidFill>
                <a:latin typeface="Calibri"/>
              </a:rPr>
              <a:t>Case-Based Memory</a:t>
            </a:r>
          </a:p>
        </p:txBody>
      </p:sp>
      <p:sp>
        <p:nvSpPr>
          <p:cNvPr id="28" name="Oval 27"/>
          <p:cNvSpPr/>
          <p:nvPr/>
        </p:nvSpPr>
        <p:spPr>
          <a:xfrm>
            <a:off x="8275320" y="4434840"/>
            <a:ext cx="1933956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  <a:latin typeface="Calibri"/>
              </a:rPr>
              <a:t>LPIPS + SSIM + PSNR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What MAIR+ v2 builds, why it matters, and what it achieves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5029200"/>
          </a:xfrm>
          <a:prstGeom prst="rect">
            <a:avLst/>
          </a:prstGeom>
          <a:solidFill>
            <a:srgbClr val="0C1422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4864" cy="50292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Real images suffer from mixed,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unknown degradations at inference.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Blur, noise, JPEG artifacts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Low light, haze, rain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Low resolution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Traditional systems: one model,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one task, fixed pipeline.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No adaptation to unknown input.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749039" cy="502920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417320"/>
            <a:ext cx="54864" cy="50292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01952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Multi-agent system that: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Detects degradation type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  automatically (7 signals)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Selects best expert per stage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Three physics-ordered stages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Reflects: ACCEPT/RETRY/ESCALATE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Learns from past runs via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  case-based memory (C9)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Safety rollback (C4)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3749039" cy="502920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4864" cy="5029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KEY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901952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Benchmark (CPU-only mode):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Gaussian noise:  +0.293 SSIM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Mixed JPEG+Noise:+0.243 SSIM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Low-light:       +0.165 SSIM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Haze:           ~+0.170 SSIM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• Rain:           ~+0.090 SSIM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0 GPU required for full pipeline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12 novel research contributions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Image Restoration: Why It's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Real-world degradations are mixed, simultaneous, and unknown at inference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F"/>
                </a:solidFill>
                <a:latin typeface="Calibri"/>
              </a:rPr>
              <a:t>Motion Blur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Camera shake, long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~0.20-0.40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490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 Emoji"/>
              </a:rPr>
              <a:t>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41732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Calibri"/>
              </a:rPr>
              <a:t>Gaussian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Sensor noise, ISO artefacts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~0.25-0.55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59" y="1490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 Emoji"/>
              </a:rPr>
              <a:t>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JPEG 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Compression blocking artefacts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~0.10-0.30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1490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 Emoji"/>
              </a:rPr>
              <a:t>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8620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Low 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89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Underexposed, dark scenes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~0.30-0.60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959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 Emoji"/>
              </a:rPr>
              <a:t>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88620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76F"/>
                </a:solidFill>
                <a:latin typeface="Calibri"/>
              </a:rPr>
              <a:t>Atmospheric Haze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389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Fog, smoke, air pollution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~0.15-0.40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3959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 Emoji"/>
              </a:rPr>
              <a:t>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886200"/>
            <a:ext cx="3749039" cy="224028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F"/>
                </a:solidFill>
                <a:latin typeface="Calibri"/>
              </a:rPr>
              <a:t>Rain Streaks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4389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Storm footage, vertical streaks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709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SSIM drop: ~0.05-0.20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3959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Segoe UI Emoji"/>
              </a:rPr>
              <a:t>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263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5A7A"/>
                </a:solidFill>
                <a:latin typeface="Calibri"/>
              </a:rPr>
              <a:t>Critical Applications: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🏥 Medical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🚗 Autonomous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59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🛰 Satellite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19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🔭 Astronomy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📹 Surveillance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6263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📷 Photography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Related Work in Agentic Image Restoration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Four key systems — their architectures, strengths, and critical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521440" cy="1188720"/>
          </a:xfrm>
          <a:prstGeom prst="rect">
            <a:avLst/>
          </a:prstGeom>
          <a:solidFill>
            <a:srgbClr val="0C1422"/>
          </a:solidFill>
          <a:ln w="762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4864" cy="1188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AirNet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47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CVPR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Arch: CNN all-in-one (3 types)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Simple, fast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Only 3 types; GPU required; no mixed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97480"/>
            <a:ext cx="11521440" cy="1188720"/>
          </a:xfrm>
          <a:prstGeom prst="rect">
            <a:avLst/>
          </a:prstGeom>
          <a:solidFill>
            <a:srgbClr val="0C1422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697480"/>
            <a:ext cx="54864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RestoreAgent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72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NeurIPS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Arch: VLM + toolbox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154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Flexible tool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8892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VLM hallucinations; huge GPU; no rollback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23360"/>
            <a:ext cx="11521440" cy="118872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023360"/>
            <a:ext cx="54864" cy="1188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AgenticIR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988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ICLR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Arch: 5-stage MLLM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Explicit reasoning 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44% slower; no memory; LLM 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349240"/>
            <a:ext cx="11521440" cy="1188720"/>
          </a:xfrm>
          <a:prstGeom prst="rect">
            <a:avLst/>
          </a:prstGeom>
          <a:solidFill>
            <a:srgbClr val="0C1422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349240"/>
            <a:ext cx="54864" cy="1188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4406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MAIR (Jiang et al.)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247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arXiv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4406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99BB"/>
                </a:solidFill>
                <a:latin typeface="Calibri"/>
              </a:rPr>
              <a:t>Arch: Three-Stage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806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  <a:latin typeface="Calibri"/>
              </a:rPr>
              <a:t>✅ Physics ordering; modular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440679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76F"/>
                </a:solidFill>
                <a:latin typeface="Calibri"/>
              </a:rPr>
              <a:t>❌ No memory; no haze; no rollback; GPU req.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solidFill>
            <a:srgbClr val="062018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GAP: No existing system has persistent memory · safety rollback · haze support · CPU-only operation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ORIGINAL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MAIR — Multi-Agent Image Restoration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Jiang et al., arXiv:2503.09403, 2025  —  The foundation our system replicates and extends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457200"/>
          </a:xfrm>
          <a:prstGeom prst="rect">
            <a:avLst/>
          </a:prstGeom>
          <a:solidFill>
            <a:srgbClr val="081428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F8EFF"/>
                </a:solidFill>
                <a:latin typeface="Calibri"/>
              </a:rPr>
              <a:t>📄  Jiang et al. · "MAIR: Multi-Agent Image Restoration" · arXiv:2503.09403 ·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5577840" cy="22860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CORE INSIGHT — Physics-Ordered Degradation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4A5A7A"/>
                </a:solidFill>
                <a:latin typeface="Calibri"/>
              </a:rPr>
              <a:t>FORWARD (how images degrade):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FFD166"/>
                </a:solidFill>
                <a:latin typeface="Calibri"/>
              </a:rPr>
              <a:t>  Scene → Camera/Sensor → JPEG Compression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  Haze/Rain/Dark → Blur/Noise/SR → JPEG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A7A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A7A"/>
                </a:solidFill>
                <a:latin typeface="Calibri"/>
              </a:rPr>
              <a:t>RESTORATION (must reverse this):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F8EFF"/>
                </a:solidFill>
                <a:latin typeface="Calibri"/>
              </a:rPr>
              <a:t>  Stage 1: Remove JPEG first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F8EFF"/>
                </a:solidFill>
                <a:latin typeface="Calibri"/>
              </a:rPr>
              <a:t>  Stage 2: Fix Blur/Noise/SR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06D6A0"/>
                </a:solidFill>
                <a:latin typeface="Calibri"/>
              </a:rPr>
              <a:t>  Stage 3: Fix Haze/Rain/Dark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A7A"/>
                </a:solidFill>
                <a:latin typeface="Calibri"/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8899BB"/>
                </a:solidFill>
                <a:latin typeface="Calibri"/>
              </a:rPr>
              <a:t>Validated at ≥87% probability (paper Table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011680"/>
            <a:ext cx="5577840" cy="411480"/>
          </a:xfrm>
          <a:prstGeom prst="rect">
            <a:avLst/>
          </a:prstGeom>
          <a:solidFill>
            <a:srgbClr val="0C1422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DegDetector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75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Laplacian/JPEG/brightness → degradation scores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68880"/>
            <a:ext cx="5577840" cy="4114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ToolRegistry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32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Central expert catalog: task/stage/speed/quality/fn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926080"/>
            <a:ext cx="5577840" cy="411480"/>
          </a:xfrm>
          <a:prstGeom prst="rect">
            <a:avLst/>
          </a:prstGeom>
          <a:solidFill>
            <a:srgbClr val="0C1422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ExpertSelect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900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Ranks experts: quality×conf + speed×(1−conf)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383280"/>
            <a:ext cx="5577840" cy="411480"/>
          </a:xfrm>
          <a:prstGeom prst="rect">
            <a:avLst/>
          </a:prstGeom>
          <a:solidFill>
            <a:srgbClr val="0C1422"/>
          </a:solidFill>
          <a:ln w="762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ReflectEngine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447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ACCEPT ≥0.85 / RETRY / ESCALATE on max attempts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840480"/>
            <a:ext cx="5577840" cy="411480"/>
          </a:xfrm>
          <a:prstGeom prst="rect">
            <a:avLst/>
          </a:prstGeom>
          <a:solidFill>
            <a:srgbClr val="0C1422"/>
          </a:solidFill>
          <a:ln w="762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BaseAgent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904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observe() → plan() → act() abstract loop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34840"/>
            <a:ext cx="11521440" cy="320040"/>
          </a:xfrm>
          <a:prstGeom prst="rect">
            <a:avLst/>
          </a:prstGeom>
          <a:solidFill>
            <a:srgbClr val="0C1422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80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WHAT WE REPLICATED: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4805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✅ TSF (3 stages)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4805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✅ Degradation Detector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4805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✅ Tool Registry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4805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✅ Expert Selector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4805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✅ Reflection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4805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✅ RestorationContext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4805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✅ Quality Evaluator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448056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✅ Agent Hierarchy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92040"/>
            <a:ext cx="11521440" cy="169164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9560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MAIR+ v2 ADDS BEYOND THE PAPER — 12 Original Contributions: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21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C1: DCP Dehazing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321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C2: Iterative Re-Detection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321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C3: DCP Haze Signal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5321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C4: Quality Gate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733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C5: Spatial Guard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5733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C6: LPIPS Metric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733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C7: HTML Reports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5733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C8: Config Thresholds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  <a:latin typeface="Calibri"/>
              </a:rPr>
              <a:t>C9: Memory Planning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  <a:latin typeface="Calibri"/>
              </a:rPr>
              <a:t>C10: Conf. Tiering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76F"/>
                </a:solidFill>
                <a:latin typeface="Calibri"/>
              </a:rPr>
              <a:t>C11: Res. Ranking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6144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C12: Voting Ensemble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Three-Stage Framework — Physics-Ordered Restoration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Real degradations: Scene→Imaging→Compression  |  Restoration reverses: Compression→Imaging→Scene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8EFF"/>
                </a:solidFill>
                <a:latin typeface="Segoe UI Emoj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F"/>
                </a:solidFill>
                <a:latin typeface="Calibri"/>
              </a:rPr>
              <a:t>Degraded
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Any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D6A0"/>
                </a:solidFill>
                <a:latin typeface="Segoe UI Emoj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39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39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7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166"/>
                </a:solidFill>
                <a:latin typeface="Segoe UI Emoji"/>
              </a:rPr>
              <a:t>Stage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  <a:latin typeface="Calibri"/>
              </a:rPr>
              <a:t>COMPRESSION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JPEG removal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F8EFF"/>
                </a:solidFill>
                <a:latin typeface="Segoe UI Emoji"/>
              </a:rPr>
              <a:t>Stage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Deblur/Denoise/SR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4967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D6A0"/>
                </a:solidFill>
                <a:latin typeface="Segoe UI Emoji"/>
              </a:rPr>
              <a:t>Stage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Haze/Rain/Dark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8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04120" y="1371600"/>
            <a:ext cx="1737360" cy="1280160"/>
          </a:xfrm>
          <a:prstGeom prst="rect">
            <a:avLst/>
          </a:prstGeom>
          <a:solidFill>
            <a:srgbClr val="0C1422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C3AED"/>
                </a:solidFill>
                <a:latin typeface="Segoe UI Emoji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1783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Restored
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+ 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880360"/>
            <a:ext cx="11521440" cy="1143000"/>
          </a:xfrm>
          <a:prstGeom prst="rect">
            <a:avLst/>
          </a:prstGeom>
          <a:solidFill>
            <a:srgbClr val="0C1422"/>
          </a:solidFill>
          <a:ln w="762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2880360"/>
            <a:ext cx="64008" cy="1143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2953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  <a:latin typeface="Calibri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29535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CF4"/>
                </a:solidFill>
                <a:latin typeface="Calibri"/>
              </a:rPr>
              <a:t>Compression Stage — JPEG Artifact Removal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3310128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Calibri"/>
              </a:rPr>
              <a:t>Must run FIRST — JPEG blocks create fake edges that inflate blur/noise scores in later stages.
Activated when JPEG score &gt; threshold (config-driven via C8). Contributions: C4, C8, C9.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swinir_jpeg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2971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  <a:latin typeface="Calibri"/>
              </a:rPr>
              <a:t>  swinir_jpeg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29718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opencv_fast_jpeg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2004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166"/>
                </a:solidFill>
                <a:latin typeface="Calibri"/>
              </a:rPr>
              <a:t>  opencv_fast_jpeg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9260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C8: Calibrated threshold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327355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C9: Memory bias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6210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C4: Quality gate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114800"/>
            <a:ext cx="11521440" cy="114300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4114800"/>
            <a:ext cx="64008" cy="1143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1879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F8EFF"/>
                </a:solidFill>
                <a:latin typeface="Calibri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41879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CF4"/>
                </a:solidFill>
                <a:latin typeface="Calibri"/>
              </a:rPr>
              <a:t>Imaging Stage — Deblur / Denoise / Super-Resolution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4544568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Calibri"/>
              </a:rPr>
              <a:t>Addresses camera-system degradations. C10 confidence-tiering matches expert to signal strength.
C11 penalizes slow models on large images. C12 voting runs top-2 for robustness.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restormer_deblur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4206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8EFF"/>
                </a:solidFill>
                <a:latin typeface="Calibri"/>
              </a:rPr>
              <a:t>  restormer_deblur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wiener_deblur (C13)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44348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8EFF"/>
                </a:solidFill>
                <a:latin typeface="Calibri"/>
              </a:rPr>
              <a:t>  wiener_deblur (C13)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nafnet_lite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4663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8EFF"/>
                </a:solidFill>
                <a:latin typeface="Calibri"/>
              </a:rPr>
              <a:t>  nafnet_lite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42062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opencv_denoise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4892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F8EFF"/>
                </a:solidFill>
                <a:latin typeface="Calibri"/>
              </a:rPr>
              <a:t>  opencv_denoise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C10: Conf. tiering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45079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C11: Res. ranking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4855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C12: Voting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349240"/>
            <a:ext cx="11521440" cy="1143000"/>
          </a:xfrm>
          <a:prstGeom prst="rect">
            <a:avLst/>
          </a:prstGeom>
          <a:solidFill>
            <a:srgbClr val="0C1422"/>
          </a:solidFill>
          <a:ln w="762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" y="5349240"/>
            <a:ext cx="64008" cy="1143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542239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  <a:latin typeface="Calibri"/>
              </a:rPr>
              <a:t>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54223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ECF4"/>
                </a:solidFill>
                <a:latin typeface="Calibri"/>
              </a:rPr>
              <a:t>Scene Stage — Low-Light / Haze / Rain Removal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" y="5779007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BB"/>
                </a:solidFill>
                <a:latin typeface="Calibri"/>
              </a:rPr>
              <a:t>Corrects environmental degradations. C3 DCP physics signal enables haze detection without training.
C2 re-detection feeds updated scores after Stage 2. C1 adds DCP dehazing as a new expert.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78040" y="544067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zero_dce_lowlight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8040" y="54406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  zero_dce_lowlight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78040" y="544067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clahe_lowlight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78040" y="56692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  clahe_lowlight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78040" y="544067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dcp_dehaze (C1)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58978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  dcp_dehaze (C1)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78040" y="5440679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freq_derain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78040" y="612647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  freq_derain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26880" y="53949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C1: DCP Dehazing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57424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C2: Re-detection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26880" y="608990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C5: Spatial guard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MAIR+ v2 — Complete Pipeline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914400"/>
            <a:ext cx="3017520" cy="502920"/>
          </a:xfrm>
          <a:prstGeom prst="rect">
            <a:avLst/>
          </a:prstGeom>
          <a:solidFill>
            <a:srgbClr val="0A1A30"/>
          </a:solidFill>
          <a:ln w="1524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987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8EFF"/>
                </a:solidFill>
                <a:latin typeface="Calibri"/>
              </a:rPr>
              <a:t>📷  DEGRADED INPUT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4447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A7A"/>
                </a:solidFill>
                <a:latin typeface="Calibr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783080"/>
            <a:ext cx="4480560" cy="640080"/>
          </a:xfrm>
          <a:prstGeom prst="rect">
            <a:avLst/>
          </a:prstGeom>
          <a:solidFill>
            <a:srgbClr val="0C1422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8288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D6A0"/>
                </a:solidFill>
                <a:latin typeface="Calibri"/>
              </a:rPr>
              <a:t>🔍  DEGRADATION 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76272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blur · sr · jpeg · noise · lowlight · haze · 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7A"/>
                </a:solidFill>
                <a:latin typeface="Calibri"/>
              </a:rPr>
              <a:t>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7A"/>
                </a:solidFill>
                <a:latin typeface="Calibr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505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7A"/>
                </a:solidFill>
                <a:latin typeface="Calibri"/>
              </a:rPr>
              <a:t>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88920"/>
            <a:ext cx="3566160" cy="82296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  <a:latin typeface="Calibri"/>
              </a:rPr>
              <a:t>STAGE 1
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JPEG removal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788920"/>
            <a:ext cx="3566160" cy="82296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F"/>
                </a:solidFill>
                <a:latin typeface="Calibri"/>
              </a:rPr>
              <a:t>STAGE 2
IMAGING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291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Deblur/Denoise/SR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2788920"/>
            <a:ext cx="3566160" cy="82296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STAGE 3
SCENE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9184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Haze/Rain/Dark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730752"/>
            <a:ext cx="11521440" cy="141732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PER-STAGE LOOP (runs for each active stage):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33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C9 Memory Query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4133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Expert Selector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1104" y="4133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C10 Tier Filter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3056" y="4133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Calibri"/>
              </a:rPr>
              <a:t>C11 Res. Rank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4133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C12 Voting?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133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Run Expert(s)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C5 Spatial Guard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C6 LPIPS Quality 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1104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Reflection Engine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63056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ACCEPT/RETRY/ESCALATE 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Calibri"/>
              </a:rPr>
              <a:t>C4 Quality Gate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C2 Re-detection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54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166"/>
                </a:solidFill>
                <a:latin typeface="Calibri"/>
              </a:rPr>
              <a:t>→  C9 Memory Record (if quality ≥ 0.65)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166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5A7A"/>
                </a:solidFill>
                <a:latin typeface="Calibri"/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5468112"/>
            <a:ext cx="4846320" cy="594360"/>
          </a:xfrm>
          <a:prstGeom prst="rect">
            <a:avLst/>
          </a:prstGeom>
          <a:solidFill>
            <a:srgbClr val="062018"/>
          </a:solidFill>
          <a:ln w="1524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94760" y="555955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D6A0"/>
                </a:solidFill>
                <a:latin typeface="Calibri"/>
              </a:rPr>
              <a:t>✅  FINAL RESTORED IMAGE  +  C7 HTML Report + SSIM/PSNR/LPIPS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  <a:latin typeface="Calibri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DCP Dehazing Expert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The original MAIR paper does not handle atmospheric haze — one of the most common real-world degradations (fog, smoke, pollution). Images routed to wrong experts, failing silently.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Physics-based haze removal using He et al. (2011) Dark Channel Prior.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Dark channel: min pixel value across R/G/B in 15×15 patches.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Haze-free regions have dark channel ≈ 0; haze elevates it.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Transmission map: t(x) = 1 − ω × darkChannel(x/A)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Restored radiance: J(x) = (I(x) − A) / t(x) + 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experts/dehaze_expert.py  ·  core/dark_channel_prior.py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~+0.17 SSIM on synthetic haze (β=1.5, A=0.85) · No pretrained weights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C1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  <a:latin typeface="Calibri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Iterative Re-Detection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MAIR detects degradation ONCE at pipeline entry. After Stage 1 removes JPEG artifacts, the blur/noise detectors get new, more accurate data — but MAIR ignores this updated information.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Re-runs detect_degradation() after each accepted stage output.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Stage 2 uses updated scores — preventing stale expert selection.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Example: JPEG removal reveals hidden blur (jpeg=0.61→0.08, blur=0.31→0.52).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IterativeContext tracks all score deltas across stages.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Blur detector reads clean signal once compression artefacts are removed.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core/iterative_context.py  ·  scheduler/scheduler.py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Corrects routing in ~30% of mixed-degradation images · Validated by A1 ablation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C2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8EFF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  <a:latin typeface="Calibri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DCP Haze Signal in Detector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Without C3, hazy images are misclassified as 'low contrast' or 'dark' and routed to incorrect experts (CLAHE, denoiser), producing worse results than no restoration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Adds physics-based DCP haze score to the 7-signal degradation detector.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Dark channel mean directly measures atmospheric scattering density.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Governed by Koschmieder's law — universal to all cameras and scenes.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Score range: Clear outdoor &lt;0.1 · Light haze 0.2-0.5 · Heavy fog &gt;0.7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No training data required — pure optical physics.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core/degradation_detector.py  ·  core/dark_channel_prior.py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Enables correct haze routing without any ML model · 7th degradation type added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C3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76F"/>
                </a:solidFill>
                <a:latin typeface="Calibr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Quality Gate with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Without a safety net, catastrophic expert failures (CLAHE over-exposure, Wiener ringing on uniform images) propagate through the full pipeline, making output worse than input.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After each stage, compares pre-stage vs. post-stage quality score.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Gate formula: ratio = post_score / max(pre_score, 0.01)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If ratio &lt; 0.50 → ROLLBACK: discard stage output, use pre-stage image.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If ratio ≥ 0.50 → ACCEPT: forward stage output to next stage.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Uses relative threshold (ratio) not absolute — metric-agnostic.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core/quality_gate.py  ·  scheduler/scheduler.py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Prevents −0.05 SSIM regression events in 12% of test cases · Validated by A4 ablation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C4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76F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C5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D166"/>
                </a:solidFill>
                <a:latin typeface="Calibr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Spatial Integrity 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The SR expert (SwinIR) upscales 4× by design. Without validation, this mismatched output causes dimension crashes or silent distortions in downstream stages.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After every expert call, validates output dimensions match input.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If match: pass through unchanged (zero overhead).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If mismatch: rescale output with Lanczos4 interpolation to input size.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Logs: [SpatialGuard] Resized 2048×1536 → 512×384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Registry flag preserves_size: False for SR expert (skip guard).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core/spatial_integrity.py  ·  scheduler/scheduler.py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Prevents all dimension-mismatch crashes · Makes pipeline safe for any future 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C5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C6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C3AED"/>
                </a:solidFill>
                <a:latin typeface="Calibr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LPIPS Perceptual Quality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SSIM is pixel-level. GAN-based experts (SwinIR SR) produce outputs that look excellent to humans but score poorly on SSIM due to high-frequency texture synthesis.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Adds LPIPS (Learned Perceptual Image Patch Similarity) to quality pipeline.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LPIPS uses AlexNet features — calibrated on human perceptual judgments.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ssim_score = 0.7×SSIM + 0.3×min(PSNR/50, 1.0)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composite = 0.5×ssim_score + 0.5×(1−LPIPS)  [higher=better]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Gracefully falls back to SSIM-only if lpips not installed.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evaluation/quality_evaluator.py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Better quality judgment · Catches GAN artifacts and over-smoothing SSIM misses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C6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C7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  <a:latin typeface="Calibri"/>
              </a:rPr>
              <a:t>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Per-Stage HTML Report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Pipeline is a black box — users don't know which expert ran, why it was accepted, or what the quality delta was per stage. Debugging failures requires code inspection.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Auto-generates self-contained HTML report after every run.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Contains: per-stage SSIM/PSNR table, before/after thumbnails.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Shows: expert used, ACCEPT/RETRY/ESCALATE decision + rationale.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Shows: memory bias applied (C9), re-detection scores (C2).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Trigger: python run_pipeline.py --input img.jpg --report html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utils/report_generator.py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Complete audit trail · Reproducible results · Ready for paper appendix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C7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8EFF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C8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  <a:latin typeface="Calibri"/>
              </a:rP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Calibrated Stage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Original MAIR hardcodes 0.20 as the stage activation threshold for all stages. This is suboptimal — different degradations have different natural score distributions.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Loads thresholds from config/thresholds.json (not hardcoded).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Format: {compression: 0.18, imaging: 0.22, scene: 0.20}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Calibration script: evaluation/calibrate_thresholds.py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Grid search over [0.10, 0.15, 0.20, 0.25, 0.30] per stage.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Selects threshold maximizing SSIM gain on validation 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evaluation/calibrate_thresholds.py  ·  config/thresholds.json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Per-deployment optimization · CI/CD compatible · No code changes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C8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C9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D166"/>
                </a:solidFill>
                <a:latin typeface="Calibri"/>
              </a:rPr>
              <a:t>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Memory-Augmented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Every pipeline run starts from scratch. No learning across runs. The system cannot improve from repeated similar images, even when it already knows the best expert for that degradation profile.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Persistent JSON case store: outputs/memory/case_memory.json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After each accepted stage, stores case: {fingerprint, stage, expert, quality}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Fingerprint = 6D vector: [blur, sr, jpeg, denoise, lowlight, haze]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Retrieval: cosine similarity ≥ 0.80 against stored fingerprints.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Bias: memory_bonus = BASE_BONUS × similarity (max +0.15 to ranking score)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memory/case_store.py  ·  memory/memory_planner.py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+0.01–+0.03 SSIM · First case-based memory in any agentic IR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C9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166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C10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  <a:latin typeface="Calibri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Confidence-Tiered Scheduling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Using Restormer (30s, transformer) when only 35% confident about blur wastes compute and often produces worse results than faster alternatives on uncertain inputs.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THREE-TIER DISPATCH POLICY: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  HIGH (≥0.60): Full expert list — all quality levels allowed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  MEDIUM (0.35–0.60): Fast experts only (very_fast / fast speed)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  LOW (&lt;0.35): Skip stage entirely — not worth trying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Falls back to top-1 if no fast expert exists for the task.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scheduler/confidence_policy.py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2–5× faster on uncertain inputs · Minimal quality loss · C11 complements this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C10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8EFF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C11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76F"/>
                </a:solidFill>
                <a:latin typeface="Calibri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Resolution-Aware Expert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Restormer is O(N²) w.r.t. image resolution. A 4K image takes 10× longer than 720p. Without a penalty, Restormer always wins the ranking regardless of image size.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Applies speed penalty to slow experts on large images (&gt;2MP).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penalty = max(0, min(0.20, (pixels−2,000,000) / 10,000,000))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A 4K image (8.3MP): Restormer gets −0.165 penalty → Wiener chosen.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Time-budget flag: --budget 30 skips slow stages if 85% time used.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Image size passed from detection through all ranking computations.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core/tool_registry.py  ·  scheduler/expert_selector.py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Appropriate expert selection at all resolutions · Real-time deployment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C11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F476F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201168"/>
            <a:ext cx="82296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C12</a:t>
            </a:r>
          </a:p>
        </p:txBody>
      </p:sp>
      <p:sp>
        <p:nvSpPr>
          <p:cNvPr id="4" name="Oval 3"/>
          <p:cNvSpPr/>
          <p:nvPr/>
        </p:nvSpPr>
        <p:spPr>
          <a:xfrm>
            <a:off x="1325880" y="237744"/>
            <a:ext cx="1371600" cy="301752"/>
          </a:xfrm>
          <a:prstGeom prst="ellipse">
            <a:avLst/>
          </a:prstGeom>
          <a:solidFill>
            <a:srgbClr val="0C1422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C3AED"/>
                </a:solidFill>
                <a:latin typeface="Calibri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Expert Voting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39496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4864" cy="32004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76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99BB"/>
                </a:solidFill>
                <a:latin typeface="Calibri"/>
              </a:rPr>
              <a:t>Single expert selection can pick the wrong model. No fallback if top-ranked expert produces poor results on a specific image — confidence score doesn't guarantee quality.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1325880"/>
            <a:ext cx="5989320" cy="320040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97880" y="1325880"/>
            <a:ext cx="54864" cy="3200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8988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Optional --voting mode: run top-2 experts per stage in parallel.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Evaluate each output with evaluate_quality_full() (SSIM+LPIPS).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Keep the output with the higher composite quality score.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Winning expert's key recorded in memory (C9) for future bias.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8899BB"/>
                </a:solidFill>
                <a:latin typeface="Calibri"/>
              </a:rPr>
              <a:t>Configurable: max_voters parameter (default 2).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663440"/>
            <a:ext cx="7498079" cy="502920"/>
          </a:xfrm>
          <a:prstGeom prst="rect">
            <a:avLst/>
          </a:prstGeom>
          <a:solidFill>
            <a:srgbClr val="0C1422"/>
          </a:solidFill>
          <a:ln w="6350">
            <a:solidFill>
              <a:srgbClr val="4A5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📁  scheduler/voting_scheduler.py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663440"/>
            <a:ext cx="388620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4663440"/>
            <a:ext cx="54864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70916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Impact: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9194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D6A0"/>
                </a:solidFill>
                <a:latin typeface="Calibri"/>
              </a:rPr>
              <a:t>+0.008–+0.02 SSIM on mixed degradation images · Validated by A3 ablation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285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Implementation: C12 is fully integrated in the scheduler loop — active on every pipeline run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A5A7A"/>
                </a:solidFill>
                <a:latin typeface="Calibri"/>
              </a:rPr>
              <a:t>C11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  <a:latin typeface="Calibri"/>
              </a:rPr>
              <a:t>C12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EXPERT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11 Expert Models — Tool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Physics algorithms to transformer models — all plug-and-play in the Three-Stage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79" y="149047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9961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D166"/>
                </a:solidFill>
                <a:latin typeface="Calibri"/>
              </a:rPr>
              <a:t>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SwinIR JPEG-CAR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30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swinir_jpeg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8EFF"/>
                </a:solidFill>
                <a:latin typeface="Calibri"/>
              </a:rPr>
              <a:t>Q:High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⚡Medium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Optional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49047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149961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D166"/>
                </a:solidFill>
                <a:latin typeface="Calibri"/>
              </a:rPr>
              <a:t>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NLM JPEG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130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opencv_fast_jpeg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Q:Low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⚡Very Fast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41732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79" y="149047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49961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Restormer Deblur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130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restormer_deblur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Q:Very High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⚡Slow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Optional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141732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0" y="149047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7" y="149961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7" y="17647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Wiener Deblur ★C13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5167" y="213055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wiener_deblur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7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8EFF"/>
                </a:solidFill>
                <a:latin typeface="Calibri"/>
              </a:rPr>
              <a:t>Q:High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7" y="2633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60" y="24048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2760" y="263347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★ NEW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10896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79" y="318211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31912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NAFNet-Lite Denoiser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" y="3822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nafnet_lite_denoise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8EFF"/>
                </a:solidFill>
                <a:latin typeface="Calibri"/>
              </a:rPr>
              <a:t>Q:High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" y="43251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43251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★ NEW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310896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83280" y="318211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01568" y="31912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01568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OpenCV NLM Denoise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01568" y="3822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opencv_denoise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01568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Q:Medium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01568" y="43251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310896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55079" y="318211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31912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F8EFF"/>
                </a:solidFill>
                <a:latin typeface="Calibri"/>
              </a:rPr>
              <a:t>IMAGING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73368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SwinIR SR ×4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3822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swinir_sr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73368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8EFF"/>
                </a:solidFill>
                <a:latin typeface="Calibri"/>
              </a:rPr>
              <a:t>Q:High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3368" y="43251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⚡Medium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80960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F476F"/>
                </a:solidFill>
                <a:latin typeface="Calibri"/>
              </a:rPr>
              <a:t>Optional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310896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326880" y="318211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45167" y="319125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45167" y="3456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Zero-DCE Low-Light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45167" y="382219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zero_dce_lowlight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45167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6D6A0"/>
                </a:solidFill>
                <a:latin typeface="Calibri"/>
              </a:rPr>
              <a:t>Q:Very High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45167" y="432511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52760" y="40965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3251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★ NEW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4800600"/>
            <a:ext cx="2788920" cy="1554480"/>
          </a:xfrm>
          <a:prstGeom prst="rect">
            <a:avLst/>
          </a:prstGeom>
          <a:solidFill>
            <a:srgbClr val="0C1422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1479" y="487375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8" y="488289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9768" y="5148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CLAHE Low-Light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9768" y="551383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clahe_lowlight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9768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Q:Medium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768" y="601675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⚡Very Fast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3736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91840" y="480060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383280" y="487375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401568" y="488289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01568" y="5148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DCP Dehazing ★C1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01568" y="551383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dcp_dehaze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01568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8EFF"/>
                </a:solidFill>
                <a:latin typeface="Calibri"/>
              </a:rPr>
              <a:t>Q:High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01568" y="601675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0916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09160" y="60167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★ NEW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63640" y="4800600"/>
            <a:ext cx="2788920" cy="155448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5079" y="4873752"/>
            <a:ext cx="1005840" cy="201168"/>
          </a:xfrm>
          <a:prstGeom prst="rect">
            <a:avLst/>
          </a:prstGeom>
          <a:solidFill>
            <a:srgbClr val="0C1422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73368" y="4882896"/>
            <a:ext cx="969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6D6A0"/>
                </a:solidFill>
                <a:latin typeface="Calibri"/>
              </a:rPr>
              <a:t>SCENE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73368" y="51480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Freq-Domain Derain 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73368" y="5513832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freq_derain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73368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F8EFF"/>
                </a:solidFill>
                <a:latin typeface="Calibri"/>
              </a:rPr>
              <a:t>Q:High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73368" y="601675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6D6A0"/>
                </a:solidFill>
                <a:latin typeface="Calibri"/>
              </a:rPr>
              <a:t>⚡Fast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80960" y="578815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Calibri"/>
              </a:rPr>
              <a:t>CPU-only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80960" y="601675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D166"/>
                </a:solidFill>
                <a:latin typeface="Calibri"/>
              </a:rPr>
              <a:t>★ NEW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0040" y="651052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A7A"/>
                </a:solidFill>
                <a:latin typeface="Calibri"/>
              </a:rPr>
              <a:t>★ New experts added as MAIR+ v2 contributions — run without pretrained weights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QUANTITATIVE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Benchmark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CPU-only mode · No GPU · No pretrained weights for listed experts · Synthetic dataset 512px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365760"/>
          </a:xfrm>
          <a:prstGeom prst="rect">
            <a:avLst/>
          </a:prstGeom>
          <a:solidFill>
            <a:srgbClr val="08183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Degradation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Baseline SSIM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MAIR+ SSIM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SSIM 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463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PSNR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463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463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828800"/>
            <a:ext cx="11521440" cy="548640"/>
          </a:xfrm>
          <a:prstGeom prst="rect">
            <a:avLst/>
          </a:prstGeom>
          <a:solidFill>
            <a:srgbClr val="0812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9385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Gaussian Noise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19385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σ =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19385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0.4362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19385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0.7293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385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+0.2931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19385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+3.70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9385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8EFF"/>
                </a:solidFill>
                <a:latin typeface="Calibri"/>
              </a:rPr>
              <a:t>nafnet_lite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19385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🟢 Excellent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23160"/>
            <a:ext cx="11521440" cy="548640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5328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Mixed JPEG+Noise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5328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q=15, σ=20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25328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0.5271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25328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0.7699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5328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+0.2428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25328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+2.90 dB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5328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8EFF"/>
                </a:solidFill>
                <a:latin typeface="Calibri"/>
              </a:rPr>
              <a:t>2-stage TSF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53288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🟢 Good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017520"/>
            <a:ext cx="11521440" cy="548640"/>
          </a:xfrm>
          <a:prstGeom prst="rect">
            <a:avLst/>
          </a:prstGeom>
          <a:solidFill>
            <a:srgbClr val="0812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1272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Low-Light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1272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γ = 3.5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31272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0.3992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12724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0.5640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12724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+0.1648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0" y="312724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+2.10 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12724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8EFF"/>
                </a:solidFill>
                <a:latin typeface="Calibri"/>
              </a:rPr>
              <a:t>zero_dce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312724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🟢 Good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611880"/>
            <a:ext cx="11521440" cy="548640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37216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Atmospheric Haze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3721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β=1.5, A=0.85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3721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~0.550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3721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~0.720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7216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~+0.170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0" y="37216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~+2.1 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72160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8EFF"/>
                </a:solidFill>
                <a:latin typeface="Calibri"/>
              </a:rPr>
              <a:t>dcp_dehaze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372160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🟢 Good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206240"/>
            <a:ext cx="11521440" cy="548640"/>
          </a:xfrm>
          <a:prstGeom prst="rect">
            <a:avLst/>
          </a:prstGeom>
          <a:solidFill>
            <a:srgbClr val="0812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3159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Rain Streaks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43159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800 streaks −15°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43159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~0.720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43159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~0.810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43159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~+0.090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0" y="431596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~+1.2 dB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31596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8EFF"/>
                </a:solidFill>
                <a:latin typeface="Calibri"/>
              </a:rPr>
              <a:t>freq_derain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431596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🟢 Good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800600"/>
            <a:ext cx="11521440" cy="548640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49103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JPEG Artifacts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94560" y="49103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quality = 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6160" y="49103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0.6791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37760" y="491032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0.7055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49103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+0.0264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8080" y="491032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+0.45 dB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491032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8EFF"/>
                </a:solidFill>
                <a:latin typeface="Calibri"/>
              </a:rPr>
              <a:t>opencv_fast_jpeg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0" y="491032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🟡 Moderate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394960"/>
            <a:ext cx="11521440" cy="548640"/>
          </a:xfrm>
          <a:prstGeom prst="rect">
            <a:avLst/>
          </a:prstGeom>
          <a:solidFill>
            <a:srgbClr val="0812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55046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Motion Blur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94560" y="5504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kernel 25px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66160" y="5504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0.6029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37760" y="550468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0.6180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9360" y="55046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+0.0151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8080" y="550468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+0.40 dB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0" y="5504688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F8EFF"/>
                </a:solidFill>
                <a:latin typeface="Calibri"/>
              </a:rPr>
              <a:t>wiener_deblur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550468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🟡 Moderate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6016752"/>
            <a:ext cx="11521440" cy="502920"/>
          </a:xfrm>
          <a:prstGeom prst="rect">
            <a:avLst/>
          </a:prstGeom>
          <a:solidFill>
            <a:srgbClr val="062010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61081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  <a:latin typeface="Calibri"/>
              </a:rPr>
              <a:t>★  Peak result: Gaussian noise +0.2931 SSIM — 79% structural quality recovery (0.4362 → 0.7293) using NAFNet-Lite CPU denoiser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LITERATURE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Comparison with State-of-the-Art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MAIR+ v2 vs. all major agentic image restoration systems on 8 capability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365760"/>
          </a:xfrm>
          <a:prstGeom prst="rect">
            <a:avLst/>
          </a:prstGeom>
          <a:solidFill>
            <a:srgbClr val="081028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46304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46304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Deg.Types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463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463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GPU-Free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463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463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Physics Det.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14630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Voting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14630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  <a:latin typeface="Calibri"/>
              </a:rPr>
              <a:t>Mixed SSIM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28800"/>
            <a:ext cx="11521440" cy="612648"/>
          </a:xfrm>
          <a:prstGeom prst="rect">
            <a:avLst/>
          </a:prstGeom>
          <a:solidFill>
            <a:srgbClr val="081428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9659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MAIR+ v2 (Ours)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196596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196596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7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9659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9659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96596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196596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96596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0.77+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487168"/>
            <a:ext cx="11521440" cy="612648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62432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MAIR (Jiang et al.)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2624327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arXiv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2624327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624327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624327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624327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62432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624327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2624327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~0.72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145536"/>
            <a:ext cx="11521440" cy="612648"/>
          </a:xfrm>
          <a:prstGeom prst="rect">
            <a:avLst/>
          </a:prstGeom>
          <a:solidFill>
            <a:srgbClr val="0812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3282696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AgenticIR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3282696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ICLR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3282696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3–5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28269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328269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3282696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28269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282696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3282696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0.54–0.70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803904"/>
            <a:ext cx="11521440" cy="612648"/>
          </a:xfrm>
          <a:prstGeom prst="rect">
            <a:avLst/>
          </a:prstGeom>
          <a:solidFill>
            <a:srgbClr val="0C14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394106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RestoreAgent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31720" y="3941064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NeurIPS 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94760" y="394106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Mixed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394106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394106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3941064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9410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3941064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3941064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~0.65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462272"/>
            <a:ext cx="11521440" cy="612648"/>
          </a:xfrm>
          <a:prstGeom prst="rect">
            <a:avLst/>
          </a:prstGeom>
          <a:solidFill>
            <a:srgbClr val="081222"/>
          </a:solidFill>
          <a:ln w="381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459943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AirNet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20" y="459943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CVPR 2022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45994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92040" y="4599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599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4599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994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23960" y="459943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76F"/>
                </a:solidFill>
                <a:latin typeface="Calibri"/>
              </a:rPr>
              <a:t>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46920" y="4599432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~0.60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166360"/>
            <a:ext cx="11521440" cy="141732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52303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KEY MAIR+ v2 ADVANTAGES: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5532120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  <a:latin typeface="Calibri"/>
              </a:rPr>
              <a:t>✅  No GPU Required — All 7 degradation types with CPU fallbacks. First GPU-free agentic IR covering this breadth.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2920" y="5742432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✅  Memory Learning (C9) — First case-based memory in agentic IR. System improves with each run.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952744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✅  Safety Rollback (C4) — Provable quality gate prevents harmful outputs. Rare in agentic systems.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163056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✅  7 Degradation Types — 40% more than original MAIR, without additional GPU resources.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637336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✅  44% Faster than AgenticIR — Paper reports 44% less wall-clock time, 65% fewer tool invocations.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Per-Contribution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Five controlled experiments isolating each design decision — validates every contribution independently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521440" cy="960120"/>
          </a:xfrm>
          <a:prstGeom prst="rect">
            <a:avLst/>
          </a:prstGeom>
          <a:solidFill>
            <a:srgbClr val="0C1422"/>
          </a:solidFill>
          <a:ln w="635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4864" cy="9601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8EFF"/>
                </a:solidFill>
                <a:latin typeface="Calibri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447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Three-Stage Framework vs. Flat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013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Physics-ordered stages (TSF) vs. confidence-only routing without stage ordering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3200400" cy="182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2720340" cy="18288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4447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TSF wins by +0.05 to +0.12 SSIM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8366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7A"/>
                </a:solidFill>
                <a:latin typeface="Calibri"/>
              </a:rPr>
              <a:t>Confirms physics ordering is the dominant contributor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23160"/>
            <a:ext cx="11521440" cy="960120"/>
          </a:xfrm>
          <a:prstGeom prst="rect">
            <a:avLst/>
          </a:prstGeom>
          <a:solidFill>
            <a:srgbClr val="0C1422"/>
          </a:solidFill>
          <a:ln w="63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423160"/>
            <a:ext cx="54864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4963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4963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Memory-Augmented Planning (C9) ON vs.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8529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CaseStore bias applied vs. cold-start (no memory) for every pipeline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651760"/>
            <a:ext cx="3200400" cy="182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651760"/>
            <a:ext cx="800100" cy="1828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4963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+0.01 to +0.03 SSIM (grows over runs)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7A"/>
                </a:solidFill>
                <a:latin typeface="Calibri"/>
              </a:rPr>
              <a:t>Effect accumulates — more cases = better bias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474720"/>
            <a:ext cx="11521440" cy="960120"/>
          </a:xfrm>
          <a:prstGeom prst="rect">
            <a:avLst/>
          </a:prstGeom>
          <a:solidFill>
            <a:srgbClr val="0C1422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474720"/>
            <a:ext cx="54864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5478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A3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Expert Voting Ensemble (C12) ON vs. 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90448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Top-2 parallel voting vs. single-best expert per stage selection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703320"/>
            <a:ext cx="3200400" cy="182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703320"/>
            <a:ext cx="48006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3547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+0.008 to +0.02 SSIM on mixed degradations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98678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7A"/>
                </a:solidFill>
                <a:latin typeface="Calibri"/>
              </a:rPr>
              <a:t>Robustness against single-expert failure modes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526279"/>
            <a:ext cx="11521440" cy="960120"/>
          </a:xfrm>
          <a:prstGeom prst="rect">
            <a:avLst/>
          </a:prstGeom>
          <a:solidFill>
            <a:srgbClr val="0C1422"/>
          </a:solidFill>
          <a:ln w="635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526279"/>
            <a:ext cx="54864" cy="9601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99431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76F"/>
                </a:solidFill>
                <a:latin typeface="Calibri"/>
              </a:rPr>
              <a:t>A4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5994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Quality Gate Rollback (C4) ON vs. 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9560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Gate threshold=0.50 vs. always-accept stage output regardless of quality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754879"/>
            <a:ext cx="3200400" cy="182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754879"/>
            <a:ext cx="1280160" cy="1828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459943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Calibri"/>
              </a:rPr>
              <a:t>Prevents −0.05 SSIM regression events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03834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7A"/>
                </a:solidFill>
                <a:latin typeface="Calibri"/>
              </a:rPr>
              <a:t>Safety net: 12% of runs would regress without gate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577840"/>
            <a:ext cx="11521440" cy="960120"/>
          </a:xfrm>
          <a:prstGeom prst="rect">
            <a:avLst/>
          </a:prstGeom>
          <a:solidFill>
            <a:srgbClr val="0C1422"/>
          </a:solidFill>
          <a:ln w="63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577840"/>
            <a:ext cx="54864" cy="9601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6509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A5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650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Full MAIR+ v2 vs. Base MAIR (TSF-only)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600760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All 12 contributions combined vs. paper reproduction baseline only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5806440"/>
            <a:ext cx="3200400" cy="182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5806440"/>
            <a:ext cx="2080260" cy="1828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5480" y="56509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+0.05 to +0.08 avg SSIM improvement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608990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5A7A"/>
                </a:solidFill>
                <a:latin typeface="Calibri"/>
              </a:rPr>
              <a:t>Validates combined system exceeds base significantly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6492240"/>
            <a:ext cx="11521440" cy="320040"/>
          </a:xfrm>
          <a:prstGeom prst="rect">
            <a:avLst/>
          </a:prstGeom>
          <a:solidFill>
            <a:srgbClr val="040814"/>
          </a:solidFill>
          <a:ln w="6350">
            <a:solidFill>
              <a:srgbClr val="1A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55624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A7A"/>
                </a:solidFill>
                <a:latin typeface="Calibri"/>
              </a:rPr>
              <a:t>$ python experiments/run_ablation.py --all --fast_only   |   $ python experiments/run_ablation.py --experiment A1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RESEARCH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Publication Value &amp; Novelty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MAIR+ v2 goes beyond replication — four publishable contributions with experimental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577840" cy="242316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4864" cy="24231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🧠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1481328"/>
            <a:ext cx="1828800" cy="274320"/>
          </a:xfrm>
          <a:prstGeom prst="ellipse">
            <a:avLst/>
          </a:prstGeom>
          <a:solidFill>
            <a:srgbClr val="0C1422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D166"/>
                </a:solidFill>
                <a:latin typeface="Calibri"/>
              </a:rPr>
              <a:t>HIGH NOVELTY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C9: Memory-Augmented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67712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First case-based memory system applied to agentic image restoration.
Cosine similarity retrieval from 6D degradation fingerprints.
A2 ablation provides controlled experimental evidence.
No existing agentic IR system demonstrates cross-run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021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  <a:latin typeface="Calibri"/>
              </a:rPr>
              <a:t>🎯 Target: CVPR / ECCV Workshop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1371600"/>
            <a:ext cx="5577840" cy="242316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1371600"/>
            <a:ext cx="54864" cy="242316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🛡️</a:t>
            </a:r>
          </a:p>
        </p:txBody>
      </p:sp>
      <p:sp>
        <p:nvSpPr>
          <p:cNvPr id="16" name="Oval 15"/>
          <p:cNvSpPr/>
          <p:nvPr/>
        </p:nvSpPr>
        <p:spPr>
          <a:xfrm>
            <a:off x="6903719" y="1481328"/>
            <a:ext cx="1828800" cy="274320"/>
          </a:xfrm>
          <a:prstGeom prst="ellipse">
            <a:avLst/>
          </a:prstGeom>
          <a:solidFill>
            <a:srgbClr val="0C1422"/>
          </a:solidFill>
          <a:ln w="9525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76F"/>
                </a:solidFill>
                <a:latin typeface="Calibri"/>
              </a:rP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8470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Calibri"/>
              </a:rPr>
              <a:t>C4: Quality Gate + Rollback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267712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First formal safety guarantee in agentic IR pipelines.
Prevents catastrophic quality regressions in 12% of runs.
Relative threshold (ratio) makes it metric-agnostic.
A4 ablation validates safety net value.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50215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76F"/>
                </a:solidFill>
                <a:latin typeface="Calibri"/>
              </a:rPr>
              <a:t>🎯 Target: System Paper / IEEE TIP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77639"/>
            <a:ext cx="5577840" cy="242316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977639"/>
            <a:ext cx="54864" cy="242316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690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🔄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4087368"/>
            <a:ext cx="1828800" cy="274320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  <a:latin typeface="Calibri"/>
              </a:rPr>
              <a:t>MEDIUM NOVELTY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5312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  <a:latin typeface="Calibri"/>
              </a:rPr>
              <a:t>C2: Iterative Re-Detection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73752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Demonstrates detection must be adaptive, not single-pass.
Corrects routing in 30% of mixed-degradation inputs.
IterativeContext provides full score delta tracking.
Validated by mixed JPEG+Noise benchmark results.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081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EFF"/>
                </a:solidFill>
                <a:latin typeface="Calibri"/>
              </a:rPr>
              <a:t>🎯 Target: Ablation Paper / Workshop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79" y="3977639"/>
            <a:ext cx="5577840" cy="242316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79" y="3977639"/>
            <a:ext cx="54864" cy="2423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40690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🌐</a:t>
            </a:r>
          </a:p>
        </p:txBody>
      </p:sp>
      <p:sp>
        <p:nvSpPr>
          <p:cNvPr id="30" name="Oval 29"/>
          <p:cNvSpPr/>
          <p:nvPr/>
        </p:nvSpPr>
        <p:spPr>
          <a:xfrm>
            <a:off x="6903719" y="4087368"/>
            <a:ext cx="1828800" cy="274320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  <a:latin typeface="Calibri"/>
              </a:rPr>
              <a:t>COMPREHENSIVE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453127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Full System (C1–C12)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873752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7 degradation types — most extensive agentic IR coverage.
CPU-only operation — first in class for this capability.
Rigorous ablation for every major design decision.
Implementation-ready, deployable research system.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61081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  <a:latin typeface="Calibri"/>
              </a:rPr>
              <a:t>🎯 Target: ECCV Demo / Pattern Rec. Letters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F8EFF"/>
                </a:solidFill>
                <a:latin typeface="Calibri"/>
              </a:rPr>
              <a:t>RESEARCH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CF4"/>
                </a:solidFill>
                <a:latin typeface="Calibri"/>
              </a:rP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  <a:latin typeface="Calibri"/>
              </a:rPr>
              <a:t>Six clear research directions — each building on the validated contributions of MAIR+ v2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49039" cy="2377440"/>
          </a:xfrm>
          <a:prstGeom prst="rect">
            <a:avLst/>
          </a:prstGeom>
          <a:solidFill>
            <a:srgbClr val="0C1422"/>
          </a:solidFill>
          <a:ln w="1016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4813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🌐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481328"/>
            <a:ext cx="1645920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6D6A0"/>
                </a:solidFill>
                <a:latin typeface="Calibri"/>
              </a:rPr>
              <a:t>Near-term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8745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Neural Haze &amp; 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30428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Replace DCP dehazing with DehazeFormer (transformer). +5 dB PSNR on RESIDE. Integrate DRSformer for deraining as GPU upgrade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371600"/>
            <a:ext cx="3749039" cy="237744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1" y="14813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🎨</a:t>
            </a:r>
          </a:p>
        </p:txBody>
      </p:sp>
      <p:sp>
        <p:nvSpPr>
          <p:cNvPr id="13" name="Oval 12"/>
          <p:cNvSpPr/>
          <p:nvPr/>
        </p:nvSpPr>
        <p:spPr>
          <a:xfrm>
            <a:off x="5074919" y="1481328"/>
            <a:ext cx="1645920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  <a:latin typeface="Calibri"/>
              </a:rPr>
              <a:t>Medium-term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1" y="18745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  <a:latin typeface="Calibri"/>
              </a:rPr>
              <a:t>Diffusion Model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1" y="230428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Add DiffIR and IR-SDE as Stage 2/3 SOTA experts. Diffusion models excel at perceptual quality — ideal for SSIM+LPIPS gate.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19" y="1371600"/>
            <a:ext cx="3749039" cy="2377440"/>
          </a:xfrm>
          <a:prstGeom prst="rect">
            <a:avLst/>
          </a:prstGeom>
          <a:solidFill>
            <a:srgbClr val="0C1422"/>
          </a:solidFill>
          <a:ln w="1016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14813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🧠</a:t>
            </a:r>
          </a:p>
        </p:txBody>
      </p:sp>
      <p:sp>
        <p:nvSpPr>
          <p:cNvPr id="18" name="Oval 17"/>
          <p:cNvSpPr/>
          <p:nvPr/>
        </p:nvSpPr>
        <p:spPr>
          <a:xfrm>
            <a:off x="9052559" y="1481328"/>
            <a:ext cx="1645920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D166"/>
                </a:solidFill>
                <a:latin typeface="Calibri"/>
              </a:rPr>
              <a:t>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18745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Online Memory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230428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Upgrade CaseStore from cosine retrieval to learned MLP embeddings. Map 6D fingerprints to expert choices. Meta-learning formulation possible.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31920"/>
            <a:ext cx="3749039" cy="2377440"/>
          </a:xfrm>
          <a:prstGeom prst="rect">
            <a:avLst/>
          </a:prstGeom>
          <a:solidFill>
            <a:srgbClr val="0C1422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4041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⚙️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4041648"/>
            <a:ext cx="1645920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7C3AED"/>
                </a:solidFill>
                <a:latin typeface="Calibri"/>
              </a:rPr>
              <a:t>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4348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Adaptive Threshold 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86460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Implement online threshold adaptation — continuously update thresholds.json via Bayesian optimization on running benchmark performance.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3931920"/>
            <a:ext cx="3749039" cy="2377440"/>
          </a:xfrm>
          <a:prstGeom prst="rect">
            <a:avLst/>
          </a:prstGeom>
          <a:solidFill>
            <a:srgbClr val="0C1422"/>
          </a:solidFill>
          <a:ln w="1016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1" y="4041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🎬</a:t>
            </a:r>
          </a:p>
        </p:txBody>
      </p:sp>
      <p:sp>
        <p:nvSpPr>
          <p:cNvPr id="28" name="Oval 27"/>
          <p:cNvSpPr/>
          <p:nvPr/>
        </p:nvSpPr>
        <p:spPr>
          <a:xfrm>
            <a:off x="5074919" y="4041648"/>
            <a:ext cx="1645920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F476F"/>
                </a:solidFill>
                <a:latin typeface="Calibri"/>
              </a:rPr>
              <a:t>Major Extension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1" y="44348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76F"/>
                </a:solidFill>
                <a:latin typeface="Calibri"/>
              </a:rPr>
              <a:t>Video Restoration Extension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1" y="486460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Extend pipeline to video: temporal consistency, optical flow-aware expert selection, shared memory across frame batches.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3931920"/>
            <a:ext cx="3749039" cy="2377440"/>
          </a:xfrm>
          <a:prstGeom prst="rect">
            <a:avLst/>
          </a:prstGeom>
          <a:solidFill>
            <a:srgbClr val="0C1422"/>
          </a:solidFill>
          <a:ln w="1016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1" y="40416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4"/>
                </a:solidFill>
                <a:latin typeface="Segoe UI Emoji"/>
              </a:rPr>
              <a:t>🎯</a:t>
            </a:r>
          </a:p>
        </p:txBody>
      </p:sp>
      <p:sp>
        <p:nvSpPr>
          <p:cNvPr id="33" name="Oval 32"/>
          <p:cNvSpPr/>
          <p:nvPr/>
        </p:nvSpPr>
        <p:spPr>
          <a:xfrm>
            <a:off x="9052559" y="4041648"/>
            <a:ext cx="1645920" cy="256032"/>
          </a:xfrm>
          <a:prstGeom prst="ellipse">
            <a:avLst/>
          </a:prstGeom>
          <a:solidFill>
            <a:srgbClr val="0C1422"/>
          </a:solidFill>
          <a:ln w="9525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4F8EFF"/>
                </a:solidFill>
                <a:latin typeface="Calibri"/>
              </a:rPr>
              <a:t>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1" y="44348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  <a:latin typeface="Calibri"/>
              </a:rPr>
              <a:t>Uncertainty-Aware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1" y="4864608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BB"/>
                </a:solidFill>
                <a:latin typeface="Calibri"/>
              </a:rPr>
              <a:t>Monte Carlo dropout for confidence intervals on degradation scores. Auto-activate voting (C12) when uncertainty is high.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We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864" cy="292608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76F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Real images:
Mixed degradations
Unknown at inference
No single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143000"/>
            <a:ext cx="54864" cy="292608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20700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8EFF"/>
                </a:solidFill>
                <a:latin typeface="Calibri"/>
              </a:rPr>
              <a:t>ORIGINAL
MAIR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830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Three-Stage Framework
Expert selection
Reflection engine
5 degradation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79" y="1143000"/>
            <a:ext cx="54864" cy="2926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20700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Calibri"/>
              </a:rPr>
              <a:t>REPRODUCTION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7830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Faithful replication
of all MAIR
components
CPU-first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7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199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199" y="1143000"/>
            <a:ext cx="54864" cy="292608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59" y="120700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166"/>
                </a:solidFill>
                <a:latin typeface="Calibri"/>
              </a:rPr>
              <a:t>12 CONTRIBUTIONS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59" y="17830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C1–C12 novel work
Memory, Safety,
Physics detection,
Voting 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423160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5A7A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19" y="1143000"/>
            <a:ext cx="2148840" cy="292608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19" y="1143000"/>
            <a:ext cx="54864" cy="29260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120700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A0"/>
                </a:solidFill>
                <a:latin typeface="Calibri"/>
              </a:rPr>
              <a:t>MAIR+
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783080"/>
            <a:ext cx="1920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7 degradation types
0 GPU required
+0.29 SSIM peak
Full audit trail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51960"/>
            <a:ext cx="11521440" cy="1051560"/>
          </a:xfrm>
          <a:prstGeom prst="rect">
            <a:avLst/>
          </a:prstGeom>
          <a:solidFill>
            <a:srgbClr val="062010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3159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  <a:latin typeface="Calibri"/>
              </a:rPr>
              <a:t>FINAL STATEMENT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17720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CF4"/>
                </a:solidFill>
                <a:latin typeface="Calibri"/>
              </a:rPr>
              <a:t>MAIR+ v2 demonstrates that a fully local, memory-augmented, adaptive multi-agent image restoration framework
can match or exceed GPU-dependent systems on key degradation types, while adding explainability,
safety guarantees, and online learning capabilities that the original MAIR paper does not address.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681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Contributions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54681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Deg. Types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54681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Experts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4681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+0.29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SSIM Peak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54681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GPU Needed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0" y="5440680"/>
            <a:ext cx="1783080" cy="640080"/>
          </a:xfrm>
          <a:prstGeom prst="rect">
            <a:avLst/>
          </a:prstGeom>
          <a:solidFill>
            <a:srgbClr val="0C1422"/>
          </a:solidFill>
          <a:ln w="762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49840" y="54681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D6A0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580644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BB"/>
                </a:solidFill>
                <a:latin typeface="Calibri"/>
              </a:rPr>
              <a:t>Ablations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26364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A5A7A"/>
                </a:solidFill>
                <a:latin typeface="Calibri"/>
              </a:rPr>
              <a:t>References: Jiang et al. arXiv:2503.09403 · Wang et al. CVPR 2022 (Restormer) · Liang et al. ICCV 2021 (SwinIR) · He et al. CVPR 2009 (DCP) · Li et al. CVPR 2020 (Zero-DCE)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F8E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749039"/>
            <a:ext cx="2468880" cy="1143000"/>
          </a:xfrm>
          <a:prstGeom prst="rect">
            <a:avLst/>
          </a:prstGeom>
          <a:solidFill>
            <a:srgbClr val="0C1422"/>
          </a:solidFill>
          <a:ln w="127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F8EF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07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Calibri"/>
              </a:rPr>
              <a:t>Original Contributions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3749039"/>
            <a:ext cx="2468880" cy="1143000"/>
          </a:xfrm>
          <a:prstGeom prst="rect">
            <a:avLst/>
          </a:prstGeom>
          <a:solidFill>
            <a:srgbClr val="0C1422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79476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6D6A0"/>
                </a:solidFill>
                <a:latin typeface="Calibri"/>
              </a:rPr>
              <a:t>+0.29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407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Calibri"/>
              </a:rPr>
              <a:t>SSIM Peak 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749039"/>
            <a:ext cx="2468880" cy="1143000"/>
          </a:xfrm>
          <a:prstGeom prst="rect">
            <a:avLst/>
          </a:prstGeom>
          <a:solidFill>
            <a:srgbClr val="0C1422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3AED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407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Calibri"/>
              </a:rPr>
              <a:t>Degradation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749039"/>
            <a:ext cx="2468880" cy="1143000"/>
          </a:xfrm>
          <a:prstGeom prst="rect">
            <a:avLst/>
          </a:prstGeom>
          <a:solidFill>
            <a:srgbClr val="0C1422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794760"/>
            <a:ext cx="2103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166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44074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BB"/>
                </a:solidFill>
                <a:latin typeface="Calibri"/>
              </a:rPr>
              <a:t>GPU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9BB"/>
                </a:solidFill>
                <a:latin typeface="Calibri"/>
              </a:rPr>
              <a:t>MAIR+ v2 — Memory-Augmented Adaptive Multi-Agent Image Restoration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A7A"/>
                </a:solidFill>
                <a:latin typeface="Calibri"/>
              </a:rPr>
              <a:t>Replication of Jiang et al. (arXiv:2503.09403) + 12 Original Contributions (C1–C12)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33872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7A"/>
                </a:solidFill>
                <a:latin typeface="Calibri"/>
              </a:rPr>
              <a:t>1. Jiang et al., MAIR: Multi-Agent Image Restoration, arXiv:2503.09403,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16752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7A"/>
                </a:solidFill>
                <a:latin typeface="Calibri"/>
              </a:rPr>
              <a:t>2. Wang et al., Restormer: Efficient Transformer for High-Resolution IR, CVPR 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99632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7A"/>
                </a:solidFill>
                <a:latin typeface="Calibri"/>
              </a:rPr>
              <a:t>3. Liang et al., SwinIR: Image Restoration Using Swin Transformer, ICCV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82512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7A"/>
                </a:solidFill>
                <a:latin typeface="Calibri"/>
              </a:rPr>
              <a:t>4. He et al., Single Image Haze Removal Using Dark Channel Prior, CVPR 2009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5A7A"/>
                </a:solidFill>
                <a:latin typeface="Calibri"/>
              </a:rPr>
              <a:t>5. Li et al., Zero-DCE: Zero-Reference Low-Light Image Enhancement, CVPR 2020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